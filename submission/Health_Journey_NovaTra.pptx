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problem, not the product name.
"Every family in this room has a folder, or a drawer, or a WhatsApp thread full of medical reports. Nobody can find anything in it when it matters."
Health Journey is a privacy-first AI health companion. Team NovaTra, New Horizon College of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this in something the judges recognise. Do not read the numbers off the slide — say the story.
"A follow-up gets missed because nobody remembered it was due. A doctor asks what your last HbA1c was and you're scrolling through a phone gallery in the consulting room. A parent's prescription changes and the family finds out three weeks later."
The point: this is not a data problem, it is a continuity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'why doesn't X already solve this' question. Be fair to each option — judges respect that more than dismissal.
Land on the gap: nothing owns the whole journey AND explains it AND keeps it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elevator pitch slide. Four capabilities, thirty seconds.
Emphasise the last one — 'and it tells you what it cannot do' — because that is what separates this from every other AI health demo they will see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Let them look at it for three seconds before you say anything.
"This is not a mockup. It is running on this laptop right now, against a Flask backend and a local record store."
Point out: health score and vitals at a glance, today's medications, today's focus tasks, next appointment. Everything on this screen is live data from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twenty seconds. The one thing to say out loud:
"The dashed box on the right can be removed and the application still works completely. External AI is an enhancement, never a dependency."
That single design decision is what makes the demo safe to run on venue 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engineering idea in the project. Say it plainly:
"Most teams wire up an API key and hope the venue wifi holds. We made offline capability a design constraint and built a second reasoning engine."
Then the proof: tick a medication, ask the same question again, and the answer changes — because Tier 2 computes from the live record on every call. It is not a set of canned replies.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the slide that wins or loses the room.
"A judge will upload a lab report and ask what the HbA1c was. Here is what our assistant does."
Read the reply aloud, especially 'so I won't guess a number at you'.
Then: "We index the document by name, type and date. We have not read inside the PDF. Most AI health demos would produce a plausible number here. Ours refuses — and tells you exactly why."
If asked: this rule is enforced in both engines, in the system prompt AND in the offline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you will actually run. Narrate it as three beats.
Upload — it appears in Documents AND on the timeline, one step.
View — served through a controlled route, not a guessable path.
Restart the backend — reload — it is still there.
The persistence beat is the one to linger on: 'that survived a full server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The line that matters:
"Every one of these gates runs before a single byte touches the disk — and we tested each one by building the attack."
If asked how we found these: an IBM Bob security review of the upload endpoint. Five findings, four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the organisers weight most heavily. Be concrete and be honest.
"We used IBM Bob as a reviewer and a test author, not as a code generator. Nine sessions, each one saved as a transcript in the repository with what we accepted, what we changed, and what we declined."
Do not claim Bob wrote the product. Claim what is true and verifiable.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nobody else will have. Deliver it with confidence, not apology.
"We did not accept everything IBM Bob told us. Twice its advice was wrong in ways that testing caught, and four more times it was right but wrong for our deadline."
The CORS one is the sharpest: applying it verbatim would have broken our own dashboard.
This demonstrates that a human engineer was in the loop making judgements — which is exactly what the organisers are asking us to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and factual. The test suite is the strongest single artifact — a judge can clone the repo and run it.
"Eighty tests, written by IBM Bob in Agent mode, still passing after we changed the code they cover. That is the meaningful test — they were written against one version and re-run against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a judge finds it. It converts every weakness into evidence of engineering maturity.
"We think the fastest way to lose credibility is to overstate. So here is what Health Journey does not do."
If a judge asks 'where is the encryption?' — you have already answered it on this slide. That is the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back to people. India has a very large population managing chronic conditions across multiple family members, usually with one person doing all the coordinating.
Then the roadmap — say the first item is OCR, because that is the honest next step and it closes the gap the judges will already have noticed.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sentence, then stop talking. Do not trail off into a summary.
"Health Journey organises your health information. Clinical decisions stay with your doctor. We built an AI health assistant whose most important feature is knowing when to say no."
Then: "Happy to take questions, or to run the demo live."
Prepared answers: encryption (we don't claim it), document contents (Bob refuses), multi-user (single user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85800" y="1417320"/>
            <a:ext cx="1965960" cy="384048"/>
          </a:xfrm>
          <a:prstGeom prst="roundRect">
            <a:avLst>
              <a:gd name="adj" fmla="val 50000"/>
            </a:avLst>
          </a:prstGeom>
          <a:solidFill>
            <a:srgbClr val="1E3A8A"/>
          </a:solidFill>
          <a:ln w="12700">
            <a:solidFill>
              <a:srgbClr val="3B82F6"/>
            </a:solidFill>
            <a:prstDash val="solid"/>
          </a:ln>
        </p:spPr>
      </p:sp>
      <p:sp>
        <p:nvSpPr>
          <p:cNvPr id="4" name="Text 1"/>
          <p:cNvSpPr txBox="1"/>
          <p:nvPr/>
        </p:nvSpPr>
        <p:spPr>
          <a:xfrm>
            <a:off x="685800" y="1417320"/>
            <a:ext cx="1965960" cy="384048"/>
          </a:xfrm>
          <a:prstGeom prst="rect">
            <a:avLst/>
          </a:prstGeom>
          <a:noFill/>
          <a:ln/>
        </p:spPr>
        <p:txBody>
          <a:bodyPr wrap="square" lIns="0" tIns="0" rIns="0" bIns="0" rtlCol="0" anchor="ctr"/>
          <a:lstStyle/>
          <a:p>
            <a:pPr algn="ctr" indent="0" marL="0">
              <a:buNone/>
            </a:pPr>
            <a:r>
              <a:rPr lang="en-US" sz="1050" b="1" spc="120" kern="0" dirty="0">
                <a:solidFill>
                  <a:srgbClr val="BFDBFE"/>
                </a:solidFill>
                <a:latin typeface="Calibri" pitchFamily="34" charset="0"/>
                <a:ea typeface="Calibri" pitchFamily="34" charset="-122"/>
                <a:cs typeface="Calibri" pitchFamily="34" charset="-120"/>
              </a:rPr>
              <a:t>IBM SKILLATHON 2026</a:t>
            </a:r>
            <a:endParaRPr lang="en-US" sz="1050" dirty="0"/>
          </a:p>
        </p:txBody>
      </p:sp>
      <p:sp>
        <p:nvSpPr>
          <p:cNvPr id="5" name="Text 2"/>
          <p:cNvSpPr txBox="1"/>
          <p:nvPr/>
        </p:nvSpPr>
        <p:spPr>
          <a:xfrm>
            <a:off x="685800" y="2057400"/>
            <a:ext cx="8686800" cy="114300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Health Journey</a:t>
            </a:r>
            <a:endParaRPr lang="en-US" sz="6000" dirty="0"/>
          </a:p>
        </p:txBody>
      </p:sp>
      <p:sp>
        <p:nvSpPr>
          <p:cNvPr id="6" name="Text 3"/>
          <p:cNvSpPr txBox="1"/>
          <p:nvPr/>
        </p:nvSpPr>
        <p:spPr>
          <a:xfrm>
            <a:off x="713232" y="3200400"/>
            <a:ext cx="8686800" cy="457200"/>
          </a:xfrm>
          <a:prstGeom prst="rect">
            <a:avLst/>
          </a:prstGeom>
          <a:noFill/>
          <a:ln/>
        </p:spPr>
        <p:txBody>
          <a:bodyPr wrap="square" lIns="0" tIns="0" rIns="0" bIns="0" rtlCol="0" anchor="ctr"/>
          <a:lstStyle/>
          <a:p>
            <a:pPr indent="0" marL="0">
              <a:buNone/>
            </a:pPr>
            <a:r>
              <a:rPr lang="en-US" sz="1900" dirty="0">
                <a:solidFill>
                  <a:srgbClr val="93C5FD"/>
                </a:solidFill>
                <a:latin typeface="Calibri" pitchFamily="34" charset="0"/>
                <a:ea typeface="Calibri" pitchFamily="34" charset="-122"/>
                <a:cs typeface="Calibri" pitchFamily="34" charset="-120"/>
              </a:rPr>
              <a:t>A privacy-first AI health companion — powered by IBM Bob</a:t>
            </a:r>
            <a:endParaRPr lang="en-US" sz="1900" dirty="0"/>
          </a:p>
        </p:txBody>
      </p:sp>
      <p:sp>
        <p:nvSpPr>
          <p:cNvPr id="7" name="Text 4"/>
          <p:cNvSpPr txBox="1"/>
          <p:nvPr/>
        </p:nvSpPr>
        <p:spPr>
          <a:xfrm>
            <a:off x="713232" y="3840480"/>
            <a:ext cx="7863840" cy="1188720"/>
          </a:xfrm>
          <a:prstGeom prst="rect">
            <a:avLst/>
          </a:prstGeom>
          <a:noFill/>
          <a:ln/>
        </p:spPr>
        <p:txBody>
          <a:bodyPr wrap="square" lIns="0" tIns="0" rIns="0" bIns="0" rtlCol="0" anchor="ctr"/>
          <a:lstStyle/>
          <a:p>
            <a:pPr indent="0" marL="0">
              <a:lnSpc>
                <a:spcPts val="2300"/>
              </a:lnSpc>
              <a:buNone/>
            </a:pPr>
            <a:r>
              <a:rPr lang="en-US" sz="1450" dirty="0">
                <a:solidFill>
                  <a:srgbClr val="CBD5E1"/>
                </a:solidFill>
                <a:latin typeface="Calibri" pitchFamily="34" charset="0"/>
                <a:ea typeface="Calibri" pitchFamily="34" charset="-122"/>
                <a:cs typeface="Calibri" pitchFamily="34" charset="-120"/>
              </a:rPr>
              <a:t>Your medical life is scattered across folders, portals and WhatsApp forwards.</a:t>
            </a:r>
            <a:endParaRPr lang="en-US" sz="1450" dirty="0"/>
          </a:p>
          <a:p>
            <a:pPr indent="0" marL="0">
              <a:lnSpc>
                <a:spcPts val="2300"/>
              </a:lnSpc>
              <a:buNone/>
            </a:pPr>
            <a:r>
              <a:rPr lang="en-US" sz="1450" dirty="0">
                <a:solidFill>
                  <a:srgbClr val="CBD5E1"/>
                </a:solidFill>
                <a:latin typeface="Calibri" pitchFamily="34" charset="0"/>
                <a:ea typeface="Calibri" pitchFamily="34" charset="-122"/>
                <a:cs typeface="Calibri" pitchFamily="34" charset="-120"/>
              </a:rPr>
              <a:t>Health Journey brings it into one place — and puts an assistant on top of it</a:t>
            </a:r>
            <a:endParaRPr lang="en-US" sz="1450" dirty="0"/>
          </a:p>
          <a:p>
            <a:pPr indent="0" marL="0">
              <a:lnSpc>
                <a:spcPts val="2300"/>
              </a:lnSpc>
              <a:buNone/>
            </a:pPr>
            <a:r>
              <a:rPr lang="en-US" sz="1450" dirty="0">
                <a:solidFill>
                  <a:srgbClr val="CBD5E1"/>
                </a:solidFill>
                <a:latin typeface="Calibri" pitchFamily="34" charset="0"/>
                <a:ea typeface="Calibri" pitchFamily="34" charset="-122"/>
                <a:cs typeface="Calibri" pitchFamily="34" charset="-120"/>
              </a:rPr>
              <a:t>that explains your record in plain language, and never guesses.</a:t>
            </a:r>
            <a:endParaRPr lang="en-US" sz="1450" dirty="0"/>
          </a:p>
        </p:txBody>
      </p:sp>
      <p:sp>
        <p:nvSpPr>
          <p:cNvPr id="8" name="Shape 5"/>
          <p:cNvSpPr/>
          <p:nvPr/>
        </p:nvSpPr>
        <p:spPr>
          <a:xfrm>
            <a:off x="713232" y="5257800"/>
            <a:ext cx="4754880" cy="0"/>
          </a:xfrm>
          <a:prstGeom prst="line">
            <a:avLst/>
          </a:prstGeom>
          <a:noFill/>
          <a:ln w="12700">
            <a:solidFill>
              <a:srgbClr val="334155"/>
            </a:solidFill>
            <a:prstDash val="solid"/>
          </a:ln>
        </p:spPr>
      </p:sp>
      <p:sp>
        <p:nvSpPr>
          <p:cNvPr id="9" name="Text 6"/>
          <p:cNvSpPr txBox="1"/>
          <p:nvPr/>
        </p:nvSpPr>
        <p:spPr>
          <a:xfrm>
            <a:off x="713232" y="5440680"/>
            <a:ext cx="3657600" cy="256032"/>
          </a:xfrm>
          <a:prstGeom prst="rect">
            <a:avLst/>
          </a:prstGeom>
          <a:noFill/>
          <a:ln/>
        </p:spPr>
        <p:txBody>
          <a:bodyPr wrap="square" lIns="0" tIns="0" rIns="0" bIns="0" rtlCol="0" anchor="ctr"/>
          <a:lstStyle/>
          <a:p>
            <a:pPr indent="0" marL="0">
              <a:buNone/>
            </a:pPr>
            <a:r>
              <a:rPr lang="en-US" sz="1050" b="1" spc="160" kern="0" dirty="0">
                <a:solidFill>
                  <a:srgbClr val="14B8A6"/>
                </a:solidFill>
                <a:latin typeface="Calibri" pitchFamily="34" charset="0"/>
                <a:ea typeface="Calibri" pitchFamily="34" charset="-122"/>
                <a:cs typeface="Calibri" pitchFamily="34" charset="-120"/>
              </a:rPr>
              <a:t>TEAM NOVATRA</a:t>
            </a:r>
            <a:endParaRPr lang="en-US" sz="1050" dirty="0"/>
          </a:p>
        </p:txBody>
      </p:sp>
      <p:sp>
        <p:nvSpPr>
          <p:cNvPr id="10" name="Text 7"/>
          <p:cNvSpPr txBox="1"/>
          <p:nvPr/>
        </p:nvSpPr>
        <p:spPr>
          <a:xfrm>
            <a:off x="713232" y="5742432"/>
            <a:ext cx="5029200"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New Horizon College of Engineering</a:t>
            </a:r>
            <a:endParaRPr lang="en-US" sz="1300" dirty="0"/>
          </a:p>
        </p:txBody>
      </p:sp>
      <p:sp>
        <p:nvSpPr>
          <p:cNvPr id="11" name="Text 8"/>
          <p:cNvSpPr txBox="1"/>
          <p:nvPr/>
        </p:nvSpPr>
        <p:spPr>
          <a:xfrm>
            <a:off x="713232" y="6053328"/>
            <a:ext cx="8686800" cy="2743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Mantripragada Ramaa Gayatri  ·  Allu Uma Eashanvi  ·  Krupa L P  ·  Madhumitha K</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85800" y="256032"/>
            <a:ext cx="10789920" cy="274320"/>
          </a:xfrm>
          <a:prstGeom prst="rect">
            <a:avLst/>
          </a:prstGeom>
          <a:noFill/>
          <a:ln/>
        </p:spPr>
        <p:txBody>
          <a:bodyPr wrap="square" lIns="0" tIns="0" rIns="0" bIns="0" rtlCol="0" anchor="ctr"/>
          <a:lstStyle/>
          <a:p>
            <a:pPr indent="0" marL="0">
              <a:buNone/>
            </a:pPr>
            <a:r>
              <a:rPr lang="en-US" sz="1150" b="1" spc="200" kern="0" dirty="0">
                <a:solidFill>
                  <a:srgbClr val="3B82F6"/>
                </a:solidFill>
                <a:latin typeface="Calibri" pitchFamily="34" charset="0"/>
                <a:ea typeface="Calibri" pitchFamily="34" charset="-122"/>
                <a:cs typeface="Calibri" pitchFamily="34" charset="-120"/>
              </a:rPr>
              <a:t>THE PROBLEM</a:t>
            </a:r>
            <a:endParaRPr lang="en-US" sz="1150" dirty="0"/>
          </a:p>
        </p:txBody>
      </p:sp>
      <p:sp>
        <p:nvSpPr>
          <p:cNvPr id="4" name="Text 1"/>
          <p:cNvSpPr txBox="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rgbClr val="0B1120"/>
                </a:solidFill>
                <a:latin typeface="Arial" pitchFamily="34" charset="0"/>
                <a:ea typeface="Arial" pitchFamily="34" charset="-122"/>
                <a:cs typeface="Arial" pitchFamily="34" charset="-120"/>
              </a:rPr>
              <a:t>Nobody is holding the whole picture</a:t>
            </a:r>
            <a:endParaRPr lang="en-US" sz="3200" dirty="0"/>
          </a:p>
        </p:txBody>
      </p:sp>
      <p:sp>
        <p:nvSpPr>
          <p:cNvPr id="5" name="Shape 2"/>
          <p:cNvSpPr/>
          <p:nvPr/>
        </p:nvSpPr>
        <p:spPr>
          <a:xfrm>
            <a:off x="685800" y="1600200"/>
            <a:ext cx="10789920" cy="1371600"/>
          </a:xfrm>
          <a:prstGeom prst="roundRect">
            <a:avLst>
              <a:gd name="adj" fmla="val 10667"/>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6" name="Shape 3"/>
          <p:cNvSpPr/>
          <p:nvPr/>
        </p:nvSpPr>
        <p:spPr>
          <a:xfrm>
            <a:off x="1005840" y="1984248"/>
            <a:ext cx="603504" cy="603504"/>
          </a:xfrm>
          <a:prstGeom prst="ellipse">
            <a:avLst/>
          </a:prstGeom>
          <a:solidFill>
            <a:srgbClr val="3B82F6"/>
          </a:solidFill>
          <a:ln/>
        </p:spPr>
      </p:sp>
      <p:sp>
        <p:nvSpPr>
          <p:cNvPr id="7" name="Text 4"/>
          <p:cNvSpPr txBox="1"/>
          <p:nvPr/>
        </p:nvSpPr>
        <p:spPr>
          <a:xfrm>
            <a:off x="1005840" y="1984248"/>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01</a:t>
            </a:r>
            <a:endParaRPr lang="en-US" sz="1400" dirty="0"/>
          </a:p>
        </p:txBody>
      </p:sp>
      <p:sp>
        <p:nvSpPr>
          <p:cNvPr id="8" name="Text 5"/>
          <p:cNvSpPr txBox="1"/>
          <p:nvPr/>
        </p:nvSpPr>
        <p:spPr>
          <a:xfrm>
            <a:off x="1874520" y="1837944"/>
            <a:ext cx="9235440" cy="329184"/>
          </a:xfrm>
          <a:prstGeom prst="rect">
            <a:avLst/>
          </a:prstGeom>
          <a:noFill/>
          <a:ln/>
        </p:spPr>
        <p:txBody>
          <a:bodyPr wrap="square" lIns="0" tIns="0" rIns="0" bIns="0" rtlCol="0" anchor="ctr"/>
          <a:lstStyle/>
          <a:p>
            <a:pPr indent="0" marL="0">
              <a:buNone/>
            </a:pPr>
            <a:r>
              <a:rPr lang="en-US" sz="1700" b="1" dirty="0">
                <a:solidFill>
                  <a:srgbClr val="0B1120"/>
                </a:solidFill>
                <a:latin typeface="Arial" pitchFamily="34" charset="0"/>
                <a:ea typeface="Arial" pitchFamily="34" charset="-122"/>
                <a:cs typeface="Arial" pitchFamily="34" charset="-120"/>
              </a:rPr>
              <a:t>It is scattered by design</a:t>
            </a:r>
            <a:endParaRPr lang="en-US" sz="1700" dirty="0"/>
          </a:p>
        </p:txBody>
      </p:sp>
      <p:sp>
        <p:nvSpPr>
          <p:cNvPr id="9" name="Text 6"/>
          <p:cNvSpPr txBox="1"/>
          <p:nvPr/>
        </p:nvSpPr>
        <p:spPr>
          <a:xfrm>
            <a:off x="1874520" y="2221992"/>
            <a:ext cx="8869680" cy="640080"/>
          </a:xfrm>
          <a:prstGeom prst="rect">
            <a:avLst/>
          </a:prstGeom>
          <a:noFill/>
          <a:ln/>
        </p:spPr>
        <p:txBody>
          <a:bodyPr wrap="square" lIns="0" tIns="0" rIns="0" bIns="0" rtlCol="0" anchor="t"/>
          <a:lstStyle/>
          <a:p>
            <a:pPr algn="l" indent="0" marL="0">
              <a:lnSpc>
                <a:spcPts val="1900"/>
              </a:lnSpc>
              <a:buNone/>
            </a:pPr>
            <a:r>
              <a:rPr lang="en-US" sz="1350" dirty="0">
                <a:solidFill>
                  <a:srgbClr val="475569"/>
                </a:solidFill>
                <a:latin typeface="Calibri" pitchFamily="34" charset="0"/>
                <a:ea typeface="Calibri" pitchFamily="34" charset="-122"/>
                <a:cs typeface="Calibri" pitchFamily="34" charset="-120"/>
              </a:rPr>
              <a:t>Lab reports sit with the diagnostic chain. Prescriptions sit on paper. Scans sit in a hospital portal you log into once. No single place holds the record.</a:t>
            </a:r>
            <a:endParaRPr lang="en-US" sz="1350" dirty="0"/>
          </a:p>
        </p:txBody>
      </p:sp>
      <p:sp>
        <p:nvSpPr>
          <p:cNvPr id="10" name="Shape 7"/>
          <p:cNvSpPr/>
          <p:nvPr/>
        </p:nvSpPr>
        <p:spPr>
          <a:xfrm>
            <a:off x="685800" y="3172968"/>
            <a:ext cx="10789920" cy="1371600"/>
          </a:xfrm>
          <a:prstGeom prst="roundRect">
            <a:avLst>
              <a:gd name="adj" fmla="val 10667"/>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11" name="Shape 8"/>
          <p:cNvSpPr/>
          <p:nvPr/>
        </p:nvSpPr>
        <p:spPr>
          <a:xfrm>
            <a:off x="1005840" y="3557016"/>
            <a:ext cx="603504" cy="603504"/>
          </a:xfrm>
          <a:prstGeom prst="ellipse">
            <a:avLst/>
          </a:prstGeom>
          <a:solidFill>
            <a:srgbClr val="8B5CF6"/>
          </a:solidFill>
          <a:ln/>
        </p:spPr>
      </p:sp>
      <p:sp>
        <p:nvSpPr>
          <p:cNvPr id="12" name="Text 9"/>
          <p:cNvSpPr txBox="1"/>
          <p:nvPr/>
        </p:nvSpPr>
        <p:spPr>
          <a:xfrm>
            <a:off x="1005840" y="3557016"/>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02</a:t>
            </a:r>
            <a:endParaRPr lang="en-US" sz="1400" dirty="0"/>
          </a:p>
        </p:txBody>
      </p:sp>
      <p:sp>
        <p:nvSpPr>
          <p:cNvPr id="13" name="Text 10"/>
          <p:cNvSpPr txBox="1"/>
          <p:nvPr/>
        </p:nvSpPr>
        <p:spPr>
          <a:xfrm>
            <a:off x="1874520" y="3410712"/>
            <a:ext cx="9235440" cy="329184"/>
          </a:xfrm>
          <a:prstGeom prst="rect">
            <a:avLst/>
          </a:prstGeom>
          <a:noFill/>
          <a:ln/>
        </p:spPr>
        <p:txBody>
          <a:bodyPr wrap="square" lIns="0" tIns="0" rIns="0" bIns="0" rtlCol="0" anchor="ctr"/>
          <a:lstStyle/>
          <a:p>
            <a:pPr indent="0" marL="0">
              <a:buNone/>
            </a:pPr>
            <a:r>
              <a:rPr lang="en-US" sz="1700" b="1" dirty="0">
                <a:solidFill>
                  <a:srgbClr val="0B1120"/>
                </a:solidFill>
                <a:latin typeface="Arial" pitchFamily="34" charset="0"/>
                <a:ea typeface="Arial" pitchFamily="34" charset="-122"/>
                <a:cs typeface="Arial" pitchFamily="34" charset="-120"/>
              </a:rPr>
              <a:t>It is remembered by a person</a:t>
            </a:r>
            <a:endParaRPr lang="en-US" sz="1700" dirty="0"/>
          </a:p>
        </p:txBody>
      </p:sp>
      <p:sp>
        <p:nvSpPr>
          <p:cNvPr id="14" name="Text 11"/>
          <p:cNvSpPr txBox="1"/>
          <p:nvPr/>
        </p:nvSpPr>
        <p:spPr>
          <a:xfrm>
            <a:off x="1874520" y="3794760"/>
            <a:ext cx="8869680" cy="640080"/>
          </a:xfrm>
          <a:prstGeom prst="rect">
            <a:avLst/>
          </a:prstGeom>
          <a:noFill/>
          <a:ln/>
        </p:spPr>
        <p:txBody>
          <a:bodyPr wrap="square" lIns="0" tIns="0" rIns="0" bIns="0" rtlCol="0" anchor="t"/>
          <a:lstStyle/>
          <a:p>
            <a:pPr algn="l" indent="0" marL="0">
              <a:lnSpc>
                <a:spcPts val="1900"/>
              </a:lnSpc>
              <a:buNone/>
            </a:pPr>
            <a:r>
              <a:rPr lang="en-US" sz="1350" dirty="0">
                <a:solidFill>
                  <a:srgbClr val="475569"/>
                </a:solidFill>
                <a:latin typeface="Calibri" pitchFamily="34" charset="0"/>
                <a:ea typeface="Calibri" pitchFamily="34" charset="-122"/>
                <a:cs typeface="Calibri" pitchFamily="34" charset="-120"/>
              </a:rPr>
              <a:t>Follow-ups, annual screens and vaccine boosters live in somebody's head. When that person is busy, unwell, or caring for a parent as well, things are simply missed.</a:t>
            </a:r>
            <a:endParaRPr lang="en-US" sz="1350" dirty="0"/>
          </a:p>
        </p:txBody>
      </p:sp>
      <p:sp>
        <p:nvSpPr>
          <p:cNvPr id="15" name="Shape 12"/>
          <p:cNvSpPr/>
          <p:nvPr/>
        </p:nvSpPr>
        <p:spPr>
          <a:xfrm>
            <a:off x="685800" y="4745736"/>
            <a:ext cx="10789920" cy="1371600"/>
          </a:xfrm>
          <a:prstGeom prst="roundRect">
            <a:avLst>
              <a:gd name="adj" fmla="val 10667"/>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16" name="Shape 13"/>
          <p:cNvSpPr/>
          <p:nvPr/>
        </p:nvSpPr>
        <p:spPr>
          <a:xfrm>
            <a:off x="1005840" y="5129784"/>
            <a:ext cx="603504" cy="603504"/>
          </a:xfrm>
          <a:prstGeom prst="ellipse">
            <a:avLst/>
          </a:prstGeom>
          <a:solidFill>
            <a:srgbClr val="14B8A6"/>
          </a:solidFill>
          <a:ln/>
        </p:spPr>
      </p:sp>
      <p:sp>
        <p:nvSpPr>
          <p:cNvPr id="17" name="Text 14"/>
          <p:cNvSpPr txBox="1"/>
          <p:nvPr/>
        </p:nvSpPr>
        <p:spPr>
          <a:xfrm>
            <a:off x="1005840" y="5129784"/>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03</a:t>
            </a:r>
            <a:endParaRPr lang="en-US" sz="1400" dirty="0"/>
          </a:p>
        </p:txBody>
      </p:sp>
      <p:sp>
        <p:nvSpPr>
          <p:cNvPr id="18" name="Text 15"/>
          <p:cNvSpPr txBox="1"/>
          <p:nvPr/>
        </p:nvSpPr>
        <p:spPr>
          <a:xfrm>
            <a:off x="1874520" y="4983480"/>
            <a:ext cx="9235440" cy="329184"/>
          </a:xfrm>
          <a:prstGeom prst="rect">
            <a:avLst/>
          </a:prstGeom>
          <a:noFill/>
          <a:ln/>
        </p:spPr>
        <p:txBody>
          <a:bodyPr wrap="square" lIns="0" tIns="0" rIns="0" bIns="0" rtlCol="0" anchor="ctr"/>
          <a:lstStyle/>
          <a:p>
            <a:pPr indent="0" marL="0">
              <a:buNone/>
            </a:pPr>
            <a:r>
              <a:rPr lang="en-US" sz="1700" b="1" dirty="0">
                <a:solidFill>
                  <a:srgbClr val="0B1120"/>
                </a:solidFill>
                <a:latin typeface="Arial" pitchFamily="34" charset="0"/>
                <a:ea typeface="Arial" pitchFamily="34" charset="-122"/>
                <a:cs typeface="Arial" pitchFamily="34" charset="-120"/>
              </a:rPr>
              <a:t>It is unreadable when it matters</a:t>
            </a:r>
            <a:endParaRPr lang="en-US" sz="1700" dirty="0"/>
          </a:p>
        </p:txBody>
      </p:sp>
      <p:sp>
        <p:nvSpPr>
          <p:cNvPr id="19" name="Text 16"/>
          <p:cNvSpPr txBox="1"/>
          <p:nvPr/>
        </p:nvSpPr>
        <p:spPr>
          <a:xfrm>
            <a:off x="1874520" y="5367528"/>
            <a:ext cx="8869680" cy="640080"/>
          </a:xfrm>
          <a:prstGeom prst="rect">
            <a:avLst/>
          </a:prstGeom>
          <a:noFill/>
          <a:ln/>
        </p:spPr>
        <p:txBody>
          <a:bodyPr wrap="square" lIns="0" tIns="0" rIns="0" bIns="0" rtlCol="0" anchor="t"/>
          <a:lstStyle/>
          <a:p>
            <a:pPr algn="l" indent="0" marL="0">
              <a:lnSpc>
                <a:spcPts val="1900"/>
              </a:lnSpc>
              <a:buNone/>
            </a:pPr>
            <a:r>
              <a:rPr lang="en-US" sz="1350" dirty="0">
                <a:solidFill>
                  <a:srgbClr val="475569"/>
                </a:solidFill>
                <a:latin typeface="Calibri" pitchFamily="34" charset="0"/>
                <a:ea typeface="Calibri" pitchFamily="34" charset="-122"/>
                <a:cs typeface="Calibri" pitchFamily="34" charset="-120"/>
              </a:rPr>
              <a:t>A lab report is thirty markers and a reference range. Patients cannot read it, and a seven-minute consultation is not enough time to explain it.</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85800" y="256032"/>
            <a:ext cx="10789920" cy="274320"/>
          </a:xfrm>
          <a:prstGeom prst="rect">
            <a:avLst/>
          </a:prstGeom>
          <a:noFill/>
          <a:ln/>
        </p:spPr>
        <p:txBody>
          <a:bodyPr wrap="square" lIns="0" tIns="0" rIns="0" bIns="0" rtlCol="0" anchor="ctr"/>
          <a:lstStyle/>
          <a:p>
            <a:pPr indent="0" marL="0">
              <a:buNone/>
            </a:pPr>
            <a:r>
              <a:rPr lang="en-US" sz="1150" b="1" spc="200" kern="0" dirty="0">
                <a:solidFill>
                  <a:srgbClr val="3B82F6"/>
                </a:solidFill>
                <a:latin typeface="Calibri" pitchFamily="34" charset="0"/>
                <a:ea typeface="Calibri" pitchFamily="34" charset="-122"/>
                <a:cs typeface="Calibri" pitchFamily="34" charset="-120"/>
              </a:rPr>
              <a:t>WHY THIS IS STILL UNSOLVED</a:t>
            </a:r>
            <a:endParaRPr lang="en-US" sz="1150" dirty="0"/>
          </a:p>
        </p:txBody>
      </p:sp>
      <p:sp>
        <p:nvSpPr>
          <p:cNvPr id="4" name="Text 1"/>
          <p:cNvSpPr txBox="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rgbClr val="0B1120"/>
                </a:solidFill>
                <a:latin typeface="Arial" pitchFamily="34" charset="0"/>
                <a:ea typeface="Arial" pitchFamily="34" charset="-122"/>
                <a:cs typeface="Arial" pitchFamily="34" charset="-120"/>
              </a:rPr>
              <a:t>The obvious answers each miss something</a:t>
            </a:r>
            <a:endParaRPr lang="en-US" sz="3200" dirty="0"/>
          </a:p>
        </p:txBody>
      </p:sp>
      <p:sp>
        <p:nvSpPr>
          <p:cNvPr id="5" name="Shape 2"/>
          <p:cNvSpPr/>
          <p:nvPr/>
        </p:nvSpPr>
        <p:spPr>
          <a:xfrm>
            <a:off x="685800" y="1691640"/>
            <a:ext cx="3383280" cy="2788920"/>
          </a:xfrm>
          <a:prstGeom prst="roundRect">
            <a:avLst>
              <a:gd name="adj" fmla="val 5246"/>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6" name="Shape 3"/>
          <p:cNvSpPr/>
          <p:nvPr/>
        </p:nvSpPr>
        <p:spPr>
          <a:xfrm>
            <a:off x="1005840" y="2011680"/>
            <a:ext cx="530352" cy="530352"/>
          </a:xfrm>
          <a:prstGeom prst="ellipse">
            <a:avLst/>
          </a:prstGeom>
          <a:solidFill>
            <a:srgbClr val="EF4444"/>
          </a:solidFill>
          <a:ln/>
        </p:spPr>
      </p:sp>
      <p:sp>
        <p:nvSpPr>
          <p:cNvPr id="7" name="Text 4"/>
          <p:cNvSpPr txBox="1"/>
          <p:nvPr/>
        </p:nvSpPr>
        <p:spPr>
          <a:xfrm>
            <a:off x="1005840" y="2011680"/>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8" name="Text 5"/>
          <p:cNvSpPr txBox="1"/>
          <p:nvPr/>
        </p:nvSpPr>
        <p:spPr>
          <a:xfrm>
            <a:off x="1005840" y="2743200"/>
            <a:ext cx="2743200" cy="320040"/>
          </a:xfrm>
          <a:prstGeom prst="rect">
            <a:avLst/>
          </a:prstGeom>
          <a:noFill/>
          <a:ln/>
        </p:spPr>
        <p:txBody>
          <a:bodyPr wrap="square" lIns="0" tIns="0" rIns="0" bIns="0" rtlCol="0" anchor="ctr"/>
          <a:lstStyle/>
          <a:p>
            <a:pPr indent="0" marL="0">
              <a:buNone/>
            </a:pPr>
            <a:r>
              <a:rPr lang="en-US" sz="1650" b="1" dirty="0">
                <a:solidFill>
                  <a:srgbClr val="0B1120"/>
                </a:solidFill>
                <a:latin typeface="Arial" pitchFamily="34" charset="0"/>
                <a:ea typeface="Arial" pitchFamily="34" charset="-122"/>
                <a:cs typeface="Arial" pitchFamily="34" charset="-120"/>
              </a:rPr>
              <a:t>Hospital portals</a:t>
            </a:r>
            <a:endParaRPr lang="en-US" sz="1650" dirty="0"/>
          </a:p>
        </p:txBody>
      </p:sp>
      <p:sp>
        <p:nvSpPr>
          <p:cNvPr id="9" name="Text 6"/>
          <p:cNvSpPr txBox="1"/>
          <p:nvPr/>
        </p:nvSpPr>
        <p:spPr>
          <a:xfrm>
            <a:off x="1005840" y="3154680"/>
            <a:ext cx="2743200" cy="1188720"/>
          </a:xfrm>
          <a:prstGeom prst="rect">
            <a:avLst/>
          </a:prstGeom>
          <a:noFill/>
          <a:ln/>
        </p:spPr>
        <p:txBody>
          <a:bodyPr wrap="square" lIns="0" tIns="0" rIns="0" bIns="0" rtlCol="0" anchor="t"/>
          <a:lstStyle/>
          <a:p>
            <a:pPr algn="l" indent="0" marL="0">
              <a:lnSpc>
                <a:spcPts val="1850"/>
              </a:lnSpc>
              <a:buNone/>
            </a:pPr>
            <a:r>
              <a:rPr lang="en-US" sz="1300" dirty="0">
                <a:solidFill>
                  <a:srgbClr val="475569"/>
                </a:solidFill>
                <a:latin typeface="Calibri" pitchFamily="34" charset="0"/>
                <a:ea typeface="Calibri" pitchFamily="34" charset="-122"/>
                <a:cs typeface="Calibri" pitchFamily="34" charset="-120"/>
              </a:rPr>
              <a:t>Accurate, but siloed. One portal per hospital, and none of them talk to each other. You cannot see your journey, only one provider's slice of it.</a:t>
            </a:r>
            <a:endParaRPr lang="en-US" sz="1300" dirty="0"/>
          </a:p>
        </p:txBody>
      </p:sp>
      <p:sp>
        <p:nvSpPr>
          <p:cNvPr id="10" name="Shape 7"/>
          <p:cNvSpPr/>
          <p:nvPr/>
        </p:nvSpPr>
        <p:spPr>
          <a:xfrm>
            <a:off x="4343400" y="1691640"/>
            <a:ext cx="3383280" cy="2788920"/>
          </a:xfrm>
          <a:prstGeom prst="roundRect">
            <a:avLst>
              <a:gd name="adj" fmla="val 5246"/>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11" name="Shape 8"/>
          <p:cNvSpPr/>
          <p:nvPr/>
        </p:nvSpPr>
        <p:spPr>
          <a:xfrm>
            <a:off x="4663440" y="2011680"/>
            <a:ext cx="530352" cy="530352"/>
          </a:xfrm>
          <a:prstGeom prst="ellipse">
            <a:avLst/>
          </a:prstGeom>
          <a:solidFill>
            <a:srgbClr val="F59E0B"/>
          </a:solidFill>
          <a:ln/>
        </p:spPr>
      </p:sp>
      <p:sp>
        <p:nvSpPr>
          <p:cNvPr id="12" name="Text 9"/>
          <p:cNvSpPr txBox="1"/>
          <p:nvPr/>
        </p:nvSpPr>
        <p:spPr>
          <a:xfrm>
            <a:off x="4663440" y="2011680"/>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3" name="Text 10"/>
          <p:cNvSpPr txBox="1"/>
          <p:nvPr/>
        </p:nvSpPr>
        <p:spPr>
          <a:xfrm>
            <a:off x="4663440" y="2743200"/>
            <a:ext cx="2743200" cy="320040"/>
          </a:xfrm>
          <a:prstGeom prst="rect">
            <a:avLst/>
          </a:prstGeom>
          <a:noFill/>
          <a:ln/>
        </p:spPr>
        <p:txBody>
          <a:bodyPr wrap="square" lIns="0" tIns="0" rIns="0" bIns="0" rtlCol="0" anchor="ctr"/>
          <a:lstStyle/>
          <a:p>
            <a:pPr indent="0" marL="0">
              <a:buNone/>
            </a:pPr>
            <a:r>
              <a:rPr lang="en-US" sz="1650" b="1" dirty="0">
                <a:solidFill>
                  <a:srgbClr val="0B1120"/>
                </a:solidFill>
                <a:latin typeface="Arial" pitchFamily="34" charset="0"/>
                <a:ea typeface="Arial" pitchFamily="34" charset="-122"/>
                <a:cs typeface="Arial" pitchFamily="34" charset="-120"/>
              </a:rPr>
              <a:t>Consumer health apps</a:t>
            </a:r>
            <a:endParaRPr lang="en-US" sz="1650" dirty="0"/>
          </a:p>
        </p:txBody>
      </p:sp>
      <p:sp>
        <p:nvSpPr>
          <p:cNvPr id="14" name="Text 11"/>
          <p:cNvSpPr txBox="1"/>
          <p:nvPr/>
        </p:nvSpPr>
        <p:spPr>
          <a:xfrm>
            <a:off x="4663440" y="3154680"/>
            <a:ext cx="2743200" cy="1188720"/>
          </a:xfrm>
          <a:prstGeom prst="rect">
            <a:avLst/>
          </a:prstGeom>
          <a:noFill/>
          <a:ln/>
        </p:spPr>
        <p:txBody>
          <a:bodyPr wrap="square" lIns="0" tIns="0" rIns="0" bIns="0" rtlCol="0" anchor="t"/>
          <a:lstStyle/>
          <a:p>
            <a:pPr algn="l" indent="0" marL="0">
              <a:lnSpc>
                <a:spcPts val="1850"/>
              </a:lnSpc>
              <a:buNone/>
            </a:pPr>
            <a:r>
              <a:rPr lang="en-US" sz="1300" dirty="0">
                <a:solidFill>
                  <a:srgbClr val="475569"/>
                </a:solidFill>
                <a:latin typeface="Calibri" pitchFamily="34" charset="0"/>
                <a:ea typeface="Calibri" pitchFamily="34" charset="-122"/>
                <a:cs typeface="Calibri" pitchFamily="34" charset="-120"/>
              </a:rPr>
              <a:t>Good at steps and sleep. They track what a wearable can measure, not what a clinician wrote — and they upload everything to a server.</a:t>
            </a:r>
            <a:endParaRPr lang="en-US" sz="1300" dirty="0"/>
          </a:p>
        </p:txBody>
      </p:sp>
      <p:sp>
        <p:nvSpPr>
          <p:cNvPr id="15" name="Shape 12"/>
          <p:cNvSpPr/>
          <p:nvPr/>
        </p:nvSpPr>
        <p:spPr>
          <a:xfrm>
            <a:off x="8001000" y="1691640"/>
            <a:ext cx="3383280" cy="2788920"/>
          </a:xfrm>
          <a:prstGeom prst="roundRect">
            <a:avLst>
              <a:gd name="adj" fmla="val 5246"/>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16" name="Shape 13"/>
          <p:cNvSpPr/>
          <p:nvPr/>
        </p:nvSpPr>
        <p:spPr>
          <a:xfrm>
            <a:off x="8321040" y="2011680"/>
            <a:ext cx="530352" cy="530352"/>
          </a:xfrm>
          <a:prstGeom prst="ellipse">
            <a:avLst/>
          </a:prstGeom>
          <a:solidFill>
            <a:srgbClr val="8B5CF6"/>
          </a:solidFill>
          <a:ln/>
        </p:spPr>
      </p:sp>
      <p:sp>
        <p:nvSpPr>
          <p:cNvPr id="17" name="Text 14"/>
          <p:cNvSpPr txBox="1"/>
          <p:nvPr/>
        </p:nvSpPr>
        <p:spPr>
          <a:xfrm>
            <a:off x="8321040" y="2011680"/>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8" name="Text 15"/>
          <p:cNvSpPr txBox="1"/>
          <p:nvPr/>
        </p:nvSpPr>
        <p:spPr>
          <a:xfrm>
            <a:off x="8321040" y="2743200"/>
            <a:ext cx="2743200" cy="320040"/>
          </a:xfrm>
          <a:prstGeom prst="rect">
            <a:avLst/>
          </a:prstGeom>
          <a:noFill/>
          <a:ln/>
        </p:spPr>
        <p:txBody>
          <a:bodyPr wrap="square" lIns="0" tIns="0" rIns="0" bIns="0" rtlCol="0" anchor="ctr"/>
          <a:lstStyle/>
          <a:p>
            <a:pPr indent="0" marL="0">
              <a:buNone/>
            </a:pPr>
            <a:r>
              <a:rPr lang="en-US" sz="1650" b="1" dirty="0">
                <a:solidFill>
                  <a:srgbClr val="0B1120"/>
                </a:solidFill>
                <a:latin typeface="Arial" pitchFamily="34" charset="0"/>
                <a:ea typeface="Arial" pitchFamily="34" charset="-122"/>
                <a:cs typeface="Arial" pitchFamily="34" charset="-120"/>
              </a:rPr>
              <a:t>A general AI chatbot</a:t>
            </a:r>
            <a:endParaRPr lang="en-US" sz="1650" dirty="0"/>
          </a:p>
        </p:txBody>
      </p:sp>
      <p:sp>
        <p:nvSpPr>
          <p:cNvPr id="19" name="Text 16"/>
          <p:cNvSpPr txBox="1"/>
          <p:nvPr/>
        </p:nvSpPr>
        <p:spPr>
          <a:xfrm>
            <a:off x="8321040" y="3154680"/>
            <a:ext cx="2743200" cy="1188720"/>
          </a:xfrm>
          <a:prstGeom prst="rect">
            <a:avLst/>
          </a:prstGeom>
          <a:noFill/>
          <a:ln/>
        </p:spPr>
        <p:txBody>
          <a:bodyPr wrap="square" lIns="0" tIns="0" rIns="0" bIns="0" rtlCol="0" anchor="t"/>
          <a:lstStyle/>
          <a:p>
            <a:pPr algn="l" indent="0" marL="0">
              <a:lnSpc>
                <a:spcPts val="1850"/>
              </a:lnSpc>
              <a:buNone/>
            </a:pPr>
            <a:r>
              <a:rPr lang="en-US" sz="1300" dirty="0">
                <a:solidFill>
                  <a:srgbClr val="475569"/>
                </a:solidFill>
                <a:latin typeface="Calibri" pitchFamily="34" charset="0"/>
                <a:ea typeface="Calibri" pitchFamily="34" charset="-122"/>
                <a:cs typeface="Calibri" pitchFamily="34" charset="-120"/>
              </a:rPr>
              <a:t>Fluent and confident, with no access to your record — so it generalises, or invents. A confident wrong number is the failure mode that matters here.</a:t>
            </a:r>
            <a:endParaRPr lang="en-US" sz="1300" dirty="0"/>
          </a:p>
        </p:txBody>
      </p:sp>
      <p:sp>
        <p:nvSpPr>
          <p:cNvPr id="20" name="Shape 17"/>
          <p:cNvSpPr/>
          <p:nvPr/>
        </p:nvSpPr>
        <p:spPr>
          <a:xfrm>
            <a:off x="685800" y="4800600"/>
            <a:ext cx="10789920" cy="1463040"/>
          </a:xfrm>
          <a:prstGeom prst="roundRect">
            <a:avLst>
              <a:gd name="adj" fmla="val 10000"/>
            </a:avLst>
          </a:prstGeom>
          <a:solidFill>
            <a:srgbClr val="0F172A"/>
          </a:solidFill>
          <a:ln w="12700">
            <a:solidFill>
              <a:srgbClr val="0F172A"/>
            </a:solidFill>
            <a:prstDash val="solid"/>
          </a:ln>
          <a:effectLst>
            <a:outerShdw sx="100000" sy="100000" kx="0" ky="0" algn="bl" rotWithShape="0" blurRad="228600" dist="50800" dir="5400000">
              <a:srgbClr val="000000">
                <a:alpha val="18000"/>
              </a:srgbClr>
            </a:outerShdw>
          </a:effectLst>
        </p:spPr>
      </p:sp>
      <p:sp>
        <p:nvSpPr>
          <p:cNvPr id="21" name="Text 18"/>
          <p:cNvSpPr txBox="1"/>
          <p:nvPr/>
        </p:nvSpPr>
        <p:spPr>
          <a:xfrm>
            <a:off x="1051560" y="5029200"/>
            <a:ext cx="1828800" cy="274320"/>
          </a:xfrm>
          <a:prstGeom prst="rect">
            <a:avLst/>
          </a:prstGeom>
          <a:noFill/>
          <a:ln/>
        </p:spPr>
        <p:txBody>
          <a:bodyPr wrap="square" lIns="0" tIns="0" rIns="0" bIns="0" rtlCol="0" anchor="ctr"/>
          <a:lstStyle/>
          <a:p>
            <a:pPr indent="0" marL="0">
              <a:buNone/>
            </a:pPr>
            <a:r>
              <a:rPr lang="en-US" sz="1100" b="1" spc="150" kern="0" dirty="0">
                <a:solidFill>
                  <a:srgbClr val="14B8A6"/>
                </a:solidFill>
                <a:latin typeface="Calibri" pitchFamily="34" charset="0"/>
                <a:ea typeface="Calibri" pitchFamily="34" charset="-122"/>
                <a:cs typeface="Calibri" pitchFamily="34" charset="-120"/>
              </a:rPr>
              <a:t>The gap</a:t>
            </a:r>
            <a:endParaRPr lang="en-US" sz="1100" dirty="0"/>
          </a:p>
        </p:txBody>
      </p:sp>
      <p:sp>
        <p:nvSpPr>
          <p:cNvPr id="22" name="Text 19"/>
          <p:cNvSpPr txBox="1"/>
          <p:nvPr/>
        </p:nvSpPr>
        <p:spPr>
          <a:xfrm>
            <a:off x="1051560" y="5349240"/>
            <a:ext cx="10058400" cy="548640"/>
          </a:xfrm>
          <a:prstGeom prst="rect">
            <a:avLst/>
          </a:prstGeom>
          <a:noFill/>
          <a:ln/>
        </p:spPr>
        <p:txBody>
          <a:bodyPr wrap="square" lIns="0" tIns="0" rIns="0" bIns="0" rtlCol="0" anchor="ctr"/>
          <a:lstStyle/>
          <a:p>
            <a:pPr indent="0" marL="0">
              <a:lnSpc>
                <a:spcPts val="2600"/>
              </a:lnSpc>
              <a:buNone/>
            </a:pPr>
            <a:r>
              <a:rPr lang="en-US" sz="1900" b="1" dirty="0">
                <a:solidFill>
                  <a:srgbClr val="FFFFFF"/>
                </a:solidFill>
                <a:latin typeface="Arial" pitchFamily="34" charset="0"/>
                <a:ea typeface="Arial" pitchFamily="34" charset="-122"/>
                <a:cs typeface="Arial" pitchFamily="34" charset="-120"/>
              </a:rPr>
              <a:t>Nothing owns the whole journey, explains it in plain language, and keeps it on your own device.</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85800" y="256032"/>
            <a:ext cx="10789920" cy="274320"/>
          </a:xfrm>
          <a:prstGeom prst="rect">
            <a:avLst/>
          </a:prstGeom>
          <a:noFill/>
          <a:ln/>
        </p:spPr>
        <p:txBody>
          <a:bodyPr wrap="square" lIns="0" tIns="0" rIns="0" bIns="0" rtlCol="0" anchor="ctr"/>
          <a:lstStyle/>
          <a:p>
            <a:pPr indent="0" marL="0">
              <a:buNone/>
            </a:pPr>
            <a:r>
              <a:rPr lang="en-US" sz="1150" b="1" spc="200" kern="0" dirty="0">
                <a:solidFill>
                  <a:srgbClr val="14B8A6"/>
                </a:solidFill>
                <a:latin typeface="Calibri" pitchFamily="34" charset="0"/>
                <a:ea typeface="Calibri" pitchFamily="34" charset="-122"/>
                <a:cs typeface="Calibri" pitchFamily="34" charset="-120"/>
              </a:rPr>
              <a:t>OUR SOLUTION</a:t>
            </a:r>
            <a:endParaRPr lang="en-US" sz="1150" dirty="0"/>
          </a:p>
        </p:txBody>
      </p:sp>
      <p:sp>
        <p:nvSpPr>
          <p:cNvPr id="4" name="Text 1"/>
          <p:cNvSpPr txBox="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One record. One assistant. On your device.</a:t>
            </a:r>
            <a:endParaRPr lang="en-US" sz="3200" dirty="0"/>
          </a:p>
        </p:txBody>
      </p:sp>
      <p:sp>
        <p:nvSpPr>
          <p:cNvPr id="5" name="Shape 2"/>
          <p:cNvSpPr/>
          <p:nvPr/>
        </p:nvSpPr>
        <p:spPr>
          <a:xfrm>
            <a:off x="685800" y="1737360"/>
            <a:ext cx="5257800" cy="1874520"/>
          </a:xfrm>
          <a:prstGeom prst="roundRect">
            <a:avLst>
              <a:gd name="adj" fmla="val 7805"/>
            </a:avLst>
          </a:prstGeom>
          <a:solidFill>
            <a:srgbClr val="18213A"/>
          </a:solidFill>
          <a:ln w="12700">
            <a:solidFill>
              <a:srgbClr val="243050"/>
            </a:solidFill>
            <a:prstDash val="solid"/>
          </a:ln>
          <a:effectLst>
            <a:outerShdw sx="100000" sy="100000" kx="0" ky="0" algn="bl" rotWithShape="0" blurRad="228600" dist="50800" dir="5400000">
              <a:srgbClr val="000000">
                <a:alpha val="18000"/>
              </a:srgbClr>
            </a:outerShdw>
          </a:effectLst>
        </p:spPr>
      </p:sp>
      <p:sp>
        <p:nvSpPr>
          <p:cNvPr id="6" name="Shape 3"/>
          <p:cNvSpPr/>
          <p:nvPr/>
        </p:nvSpPr>
        <p:spPr>
          <a:xfrm>
            <a:off x="1051560" y="2084832"/>
            <a:ext cx="548640" cy="548640"/>
          </a:xfrm>
          <a:prstGeom prst="ellipse">
            <a:avLst/>
          </a:prstGeom>
          <a:solidFill>
            <a:srgbClr val="3B82F6"/>
          </a:solidFill>
          <a:ln/>
        </p:spPr>
      </p:sp>
      <p:sp>
        <p:nvSpPr>
          <p:cNvPr id="7" name="Text 4"/>
          <p:cNvSpPr txBox="1"/>
          <p:nvPr/>
        </p:nvSpPr>
        <p:spPr>
          <a:xfrm>
            <a:off x="1051560" y="2084832"/>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1783080" y="2121408"/>
            <a:ext cx="393192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Everything in one timeline</a:t>
            </a:r>
            <a:endParaRPr lang="en-US" sz="1600" dirty="0"/>
          </a:p>
        </p:txBody>
      </p:sp>
      <p:sp>
        <p:nvSpPr>
          <p:cNvPr id="9" name="Text 6"/>
          <p:cNvSpPr txBox="1"/>
          <p:nvPr/>
        </p:nvSpPr>
        <p:spPr>
          <a:xfrm>
            <a:off x="1051560" y="2761488"/>
            <a:ext cx="4572000" cy="914400"/>
          </a:xfrm>
          <a:prstGeom prst="rect">
            <a:avLst/>
          </a:prstGeom>
          <a:noFill/>
          <a:ln/>
        </p:spPr>
        <p:txBody>
          <a:bodyPr wrap="square" lIns="0" tIns="0" rIns="0" bIns="0" rtlCol="0" anchor="t"/>
          <a:lstStyle/>
          <a:p>
            <a:pPr algn="l" indent="0" marL="0">
              <a:lnSpc>
                <a:spcPts val="1850"/>
              </a:lnSpc>
              <a:buNone/>
            </a:pPr>
            <a:r>
              <a:rPr lang="en-US" sz="1300" dirty="0">
                <a:solidFill>
                  <a:srgbClr val="B6C2D9"/>
                </a:solidFill>
                <a:latin typeface="Calibri" pitchFamily="34" charset="0"/>
                <a:ea typeface="Calibri" pitchFamily="34" charset="-122"/>
                <a:cs typeface="Calibri" pitchFamily="34" charset="-120"/>
              </a:rPr>
              <a:t>Upload a report and it is catalogued and placed on your health timeline in a single step — no forms, no filing.</a:t>
            </a:r>
            <a:endParaRPr lang="en-US" sz="1300" dirty="0"/>
          </a:p>
        </p:txBody>
      </p:sp>
      <p:sp>
        <p:nvSpPr>
          <p:cNvPr id="10" name="Shape 7"/>
          <p:cNvSpPr/>
          <p:nvPr/>
        </p:nvSpPr>
        <p:spPr>
          <a:xfrm>
            <a:off x="6217920" y="1737360"/>
            <a:ext cx="5257800" cy="1874520"/>
          </a:xfrm>
          <a:prstGeom prst="roundRect">
            <a:avLst>
              <a:gd name="adj" fmla="val 7805"/>
            </a:avLst>
          </a:prstGeom>
          <a:solidFill>
            <a:srgbClr val="18213A"/>
          </a:solidFill>
          <a:ln w="12700">
            <a:solidFill>
              <a:srgbClr val="243050"/>
            </a:solidFill>
            <a:prstDash val="solid"/>
          </a:ln>
          <a:effectLst>
            <a:outerShdw sx="100000" sy="100000" kx="0" ky="0" algn="bl" rotWithShape="0" blurRad="228600" dist="50800" dir="5400000">
              <a:srgbClr val="000000">
                <a:alpha val="18000"/>
              </a:srgbClr>
            </a:outerShdw>
          </a:effectLst>
        </p:spPr>
      </p:sp>
      <p:sp>
        <p:nvSpPr>
          <p:cNvPr id="11" name="Shape 8"/>
          <p:cNvSpPr/>
          <p:nvPr/>
        </p:nvSpPr>
        <p:spPr>
          <a:xfrm>
            <a:off x="6583680" y="2084832"/>
            <a:ext cx="548640" cy="548640"/>
          </a:xfrm>
          <a:prstGeom prst="ellipse">
            <a:avLst/>
          </a:prstGeom>
          <a:solidFill>
            <a:srgbClr val="8B5CF6"/>
          </a:solidFill>
          <a:ln/>
        </p:spPr>
      </p:sp>
      <p:sp>
        <p:nvSpPr>
          <p:cNvPr id="12" name="Text 9"/>
          <p:cNvSpPr txBox="1"/>
          <p:nvPr/>
        </p:nvSpPr>
        <p:spPr>
          <a:xfrm>
            <a:off x="6583680" y="2084832"/>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0"/>
          <p:cNvSpPr txBox="1"/>
          <p:nvPr/>
        </p:nvSpPr>
        <p:spPr>
          <a:xfrm>
            <a:off x="7315200" y="2121408"/>
            <a:ext cx="393192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IBM Bob explains it</a:t>
            </a:r>
            <a:endParaRPr lang="en-US" sz="1600" dirty="0"/>
          </a:p>
        </p:txBody>
      </p:sp>
      <p:sp>
        <p:nvSpPr>
          <p:cNvPr id="14" name="Text 11"/>
          <p:cNvSpPr txBox="1"/>
          <p:nvPr/>
        </p:nvSpPr>
        <p:spPr>
          <a:xfrm>
            <a:off x="6583680" y="2761488"/>
            <a:ext cx="4572000" cy="914400"/>
          </a:xfrm>
          <a:prstGeom prst="rect">
            <a:avLst/>
          </a:prstGeom>
          <a:noFill/>
          <a:ln/>
        </p:spPr>
        <p:txBody>
          <a:bodyPr wrap="square" lIns="0" tIns="0" rIns="0" bIns="0" rtlCol="0" anchor="t"/>
          <a:lstStyle/>
          <a:p>
            <a:pPr algn="l" indent="0" marL="0">
              <a:lnSpc>
                <a:spcPts val="1850"/>
              </a:lnSpc>
              <a:buNone/>
            </a:pPr>
            <a:r>
              <a:rPr lang="en-US" sz="1300" dirty="0">
                <a:solidFill>
                  <a:srgbClr val="B6C2D9"/>
                </a:solidFill>
                <a:latin typeface="Calibri" pitchFamily="34" charset="0"/>
                <a:ea typeface="Calibri" pitchFamily="34" charset="-122"/>
                <a:cs typeface="Calibri" pitchFamily="34" charset="-120"/>
              </a:rPr>
              <a:t>An assistant that reads your actual record and answers in everyday language — medications, appointments, what to ask your doctor.</a:t>
            </a:r>
            <a:endParaRPr lang="en-US" sz="1300" dirty="0"/>
          </a:p>
        </p:txBody>
      </p:sp>
      <p:sp>
        <p:nvSpPr>
          <p:cNvPr id="15" name="Shape 12"/>
          <p:cNvSpPr/>
          <p:nvPr/>
        </p:nvSpPr>
        <p:spPr>
          <a:xfrm>
            <a:off x="685800" y="3977640"/>
            <a:ext cx="5257800" cy="1874520"/>
          </a:xfrm>
          <a:prstGeom prst="roundRect">
            <a:avLst>
              <a:gd name="adj" fmla="val 7805"/>
            </a:avLst>
          </a:prstGeom>
          <a:solidFill>
            <a:srgbClr val="18213A"/>
          </a:solidFill>
          <a:ln w="12700">
            <a:solidFill>
              <a:srgbClr val="243050"/>
            </a:solidFill>
            <a:prstDash val="solid"/>
          </a:ln>
          <a:effectLst>
            <a:outerShdw sx="100000" sy="100000" kx="0" ky="0" algn="bl" rotWithShape="0" blurRad="228600" dist="50800" dir="5400000">
              <a:srgbClr val="000000">
                <a:alpha val="18000"/>
              </a:srgbClr>
            </a:outerShdw>
          </a:effectLst>
        </p:spPr>
      </p:sp>
      <p:sp>
        <p:nvSpPr>
          <p:cNvPr id="16" name="Shape 13"/>
          <p:cNvSpPr/>
          <p:nvPr/>
        </p:nvSpPr>
        <p:spPr>
          <a:xfrm>
            <a:off x="1051560" y="4325112"/>
            <a:ext cx="548640" cy="548640"/>
          </a:xfrm>
          <a:prstGeom prst="ellipse">
            <a:avLst/>
          </a:prstGeom>
          <a:solidFill>
            <a:srgbClr val="14B8A6"/>
          </a:solidFill>
          <a:ln/>
        </p:spPr>
      </p:sp>
      <p:sp>
        <p:nvSpPr>
          <p:cNvPr id="17" name="Text 14"/>
          <p:cNvSpPr txBox="1"/>
          <p:nvPr/>
        </p:nvSpPr>
        <p:spPr>
          <a:xfrm>
            <a:off x="1051560" y="4325112"/>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5"/>
          <p:cNvSpPr txBox="1"/>
          <p:nvPr/>
        </p:nvSpPr>
        <p:spPr>
          <a:xfrm>
            <a:off x="1783080" y="4361688"/>
            <a:ext cx="393192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It never leaves your machine</a:t>
            </a:r>
            <a:endParaRPr lang="en-US" sz="1600" dirty="0"/>
          </a:p>
        </p:txBody>
      </p:sp>
      <p:sp>
        <p:nvSpPr>
          <p:cNvPr id="19" name="Text 16"/>
          <p:cNvSpPr txBox="1"/>
          <p:nvPr/>
        </p:nvSpPr>
        <p:spPr>
          <a:xfrm>
            <a:off x="1051560" y="5001768"/>
            <a:ext cx="4572000" cy="914400"/>
          </a:xfrm>
          <a:prstGeom prst="rect">
            <a:avLst/>
          </a:prstGeom>
          <a:noFill/>
          <a:ln/>
        </p:spPr>
        <p:txBody>
          <a:bodyPr wrap="square" lIns="0" tIns="0" rIns="0" bIns="0" rtlCol="0" anchor="t"/>
          <a:lstStyle/>
          <a:p>
            <a:pPr algn="l" indent="0" marL="0">
              <a:lnSpc>
                <a:spcPts val="1850"/>
              </a:lnSpc>
              <a:buNone/>
            </a:pPr>
            <a:r>
              <a:rPr lang="en-US" sz="1300" dirty="0">
                <a:solidFill>
                  <a:srgbClr val="B6C2D9"/>
                </a:solidFill>
                <a:latin typeface="Calibri" pitchFamily="34" charset="0"/>
                <a:ea typeface="Calibri" pitchFamily="34" charset="-122"/>
                <a:cs typeface="Calibri" pitchFamily="34" charset="-120"/>
              </a:rPr>
              <a:t>The record is stored locally. No account, no server, no tracking. Privacy by architecture, not by policy.</a:t>
            </a:r>
            <a:endParaRPr lang="en-US" sz="1300" dirty="0"/>
          </a:p>
        </p:txBody>
      </p:sp>
      <p:sp>
        <p:nvSpPr>
          <p:cNvPr id="20" name="Shape 17"/>
          <p:cNvSpPr/>
          <p:nvPr/>
        </p:nvSpPr>
        <p:spPr>
          <a:xfrm>
            <a:off x="6217920" y="3977640"/>
            <a:ext cx="5257800" cy="1874520"/>
          </a:xfrm>
          <a:prstGeom prst="roundRect">
            <a:avLst>
              <a:gd name="adj" fmla="val 7805"/>
            </a:avLst>
          </a:prstGeom>
          <a:solidFill>
            <a:srgbClr val="18213A"/>
          </a:solidFill>
          <a:ln w="12700">
            <a:solidFill>
              <a:srgbClr val="243050"/>
            </a:solidFill>
            <a:prstDash val="solid"/>
          </a:ln>
          <a:effectLst>
            <a:outerShdw sx="100000" sy="100000" kx="0" ky="0" algn="bl" rotWithShape="0" blurRad="228600" dist="50800" dir="5400000">
              <a:srgbClr val="000000">
                <a:alpha val="18000"/>
              </a:srgbClr>
            </a:outerShdw>
          </a:effectLst>
        </p:spPr>
      </p:sp>
      <p:sp>
        <p:nvSpPr>
          <p:cNvPr id="21" name="Shape 18"/>
          <p:cNvSpPr/>
          <p:nvPr/>
        </p:nvSpPr>
        <p:spPr>
          <a:xfrm>
            <a:off x="6583680" y="4325112"/>
            <a:ext cx="548640" cy="548640"/>
          </a:xfrm>
          <a:prstGeom prst="ellipse">
            <a:avLst/>
          </a:prstGeom>
          <a:solidFill>
            <a:srgbClr val="F59E0B"/>
          </a:solidFill>
          <a:ln/>
        </p:spPr>
      </p:sp>
      <p:sp>
        <p:nvSpPr>
          <p:cNvPr id="22" name="Text 19"/>
          <p:cNvSpPr txBox="1"/>
          <p:nvPr/>
        </p:nvSpPr>
        <p:spPr>
          <a:xfrm>
            <a:off x="6583680" y="4325112"/>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3" name="Text 20"/>
          <p:cNvSpPr txBox="1"/>
          <p:nvPr/>
        </p:nvSpPr>
        <p:spPr>
          <a:xfrm>
            <a:off x="7315200" y="4361688"/>
            <a:ext cx="393192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It tells you what it cannot do</a:t>
            </a:r>
            <a:endParaRPr lang="en-US" sz="1600" dirty="0"/>
          </a:p>
        </p:txBody>
      </p:sp>
      <p:sp>
        <p:nvSpPr>
          <p:cNvPr id="24" name="Text 21"/>
          <p:cNvSpPr txBox="1"/>
          <p:nvPr/>
        </p:nvSpPr>
        <p:spPr>
          <a:xfrm>
            <a:off x="6583680" y="5001768"/>
            <a:ext cx="4572000" cy="914400"/>
          </a:xfrm>
          <a:prstGeom prst="rect">
            <a:avLst/>
          </a:prstGeom>
          <a:noFill/>
          <a:ln/>
        </p:spPr>
        <p:txBody>
          <a:bodyPr wrap="square" lIns="0" tIns="0" rIns="0" bIns="0" rtlCol="0" anchor="t"/>
          <a:lstStyle/>
          <a:p>
            <a:pPr algn="l" indent="0" marL="0">
              <a:lnSpc>
                <a:spcPts val="1850"/>
              </a:lnSpc>
              <a:buNone/>
            </a:pPr>
            <a:r>
              <a:rPr lang="en-US" sz="1300" dirty="0">
                <a:solidFill>
                  <a:srgbClr val="B6C2D9"/>
                </a:solidFill>
                <a:latin typeface="Calibri" pitchFamily="34" charset="0"/>
                <a:ea typeface="Calibri" pitchFamily="34" charset="-122"/>
                <a:cs typeface="Calibri" pitchFamily="34" charset="-120"/>
              </a:rPr>
              <a:t>Ask for a lab value it has not read and it says so, plainly, instead of guessing a number at you.</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85800" y="256032"/>
            <a:ext cx="10789920" cy="274320"/>
          </a:xfrm>
          <a:prstGeom prst="rect">
            <a:avLst/>
          </a:prstGeom>
          <a:noFill/>
          <a:ln/>
        </p:spPr>
        <p:txBody>
          <a:bodyPr wrap="square" lIns="0" tIns="0" rIns="0" bIns="0" rtlCol="0" anchor="ctr"/>
          <a:lstStyle/>
          <a:p>
            <a:pPr indent="0" marL="0">
              <a:buNone/>
            </a:pPr>
            <a:r>
              <a:rPr lang="en-US" sz="1150" b="1" spc="200" kern="0" dirty="0">
                <a:solidFill>
                  <a:srgbClr val="3B82F6"/>
                </a:solidFill>
                <a:latin typeface="Calibri" pitchFamily="34" charset="0"/>
                <a:ea typeface="Calibri" pitchFamily="34" charset="-122"/>
                <a:cs typeface="Calibri" pitchFamily="34" charset="-120"/>
              </a:rPr>
              <a:t>THE PRODUCT</a:t>
            </a:r>
            <a:endParaRPr lang="en-US" sz="1150" dirty="0"/>
          </a:p>
        </p:txBody>
      </p:sp>
      <p:sp>
        <p:nvSpPr>
          <p:cNvPr id="4" name="Text 1"/>
          <p:cNvSpPr txBox="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rgbClr val="0B1120"/>
                </a:solidFill>
                <a:latin typeface="Arial" pitchFamily="34" charset="0"/>
                <a:ea typeface="Arial" pitchFamily="34" charset="-122"/>
                <a:cs typeface="Arial" pitchFamily="34" charset="-120"/>
              </a:rPr>
              <a:t>This is running software, not a mockup</a:t>
            </a:r>
            <a:endParaRPr lang="en-US" sz="3200" dirty="0"/>
          </a:p>
        </p:txBody>
      </p:sp>
      <p:pic>
        <p:nvPicPr>
          <p:cNvPr id="5" name="Image 0" descr="img/e-hero.png">    </p:cNvPr>
          <p:cNvPicPr>
            <a:picLocks noChangeAspect="1"/>
          </p:cNvPicPr>
          <p:nvPr/>
        </p:nvPicPr>
        <p:blipFill>
          <a:blip r:embed="rId2"/>
          <a:stretch>
            <a:fillRect/>
          </a:stretch>
        </p:blipFill>
        <p:spPr>
          <a:xfrm>
            <a:off x="685800" y="1463040"/>
            <a:ext cx="6949440" cy="4133088"/>
          </a:xfrm>
          <a:prstGeom prst="rect">
            <a:avLst/>
          </a:prstGeom>
          <a:effectLst>
            <a:outerShdw sx="100000" sy="100000" kx="0" ky="0" algn="bl" rotWithShape="0" blurRad="228600" dist="50800" dir="5400000">
              <a:srgbClr val="000000">
                <a:alpha val="18000"/>
              </a:srgbClr>
            </a:outerShdw>
          </a:effectLst>
        </p:spPr>
      </p:pic>
      <p:sp>
        <p:nvSpPr>
          <p:cNvPr id="6" name="Shape 2"/>
          <p:cNvSpPr/>
          <p:nvPr/>
        </p:nvSpPr>
        <p:spPr>
          <a:xfrm>
            <a:off x="7863840" y="1463040"/>
            <a:ext cx="3611880" cy="1234440"/>
          </a:xfrm>
          <a:prstGeom prst="roundRect">
            <a:avLst>
              <a:gd name="adj" fmla="val 11852"/>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7" name="Shape 3"/>
          <p:cNvSpPr/>
          <p:nvPr/>
        </p:nvSpPr>
        <p:spPr>
          <a:xfrm>
            <a:off x="8138160" y="1737360"/>
            <a:ext cx="164592" cy="164592"/>
          </a:xfrm>
          <a:prstGeom prst="ellipse">
            <a:avLst/>
          </a:prstGeom>
          <a:solidFill>
            <a:srgbClr val="3B82F6"/>
          </a:solidFill>
          <a:ln/>
        </p:spPr>
      </p:sp>
      <p:sp>
        <p:nvSpPr>
          <p:cNvPr id="8" name="Text 4"/>
          <p:cNvSpPr txBox="1"/>
          <p:nvPr/>
        </p:nvSpPr>
        <p:spPr>
          <a:xfrm>
            <a:off x="8430768" y="1664208"/>
            <a:ext cx="2743200" cy="292608"/>
          </a:xfrm>
          <a:prstGeom prst="rect">
            <a:avLst/>
          </a:prstGeom>
          <a:noFill/>
          <a:ln/>
        </p:spPr>
        <p:txBody>
          <a:bodyPr wrap="square" lIns="0" tIns="0" rIns="0" bIns="0" rtlCol="0" anchor="ctr"/>
          <a:lstStyle/>
          <a:p>
            <a:pPr indent="0" marL="0">
              <a:buNone/>
            </a:pPr>
            <a:r>
              <a:rPr lang="en-US" sz="1350" b="1" dirty="0">
                <a:solidFill>
                  <a:srgbClr val="0B1120"/>
                </a:solidFill>
                <a:latin typeface="Arial" pitchFamily="34" charset="0"/>
                <a:ea typeface="Arial" pitchFamily="34" charset="-122"/>
                <a:cs typeface="Arial" pitchFamily="34" charset="-120"/>
              </a:rPr>
              <a:t>Live data, end to end</a:t>
            </a:r>
            <a:endParaRPr lang="en-US" sz="1350" dirty="0"/>
          </a:p>
        </p:txBody>
      </p:sp>
      <p:sp>
        <p:nvSpPr>
          <p:cNvPr id="9" name="Text 5"/>
          <p:cNvSpPr txBox="1"/>
          <p:nvPr/>
        </p:nvSpPr>
        <p:spPr>
          <a:xfrm>
            <a:off x="8138160" y="2029968"/>
            <a:ext cx="3063240" cy="594360"/>
          </a:xfrm>
          <a:prstGeom prst="rect">
            <a:avLst/>
          </a:prstGeom>
          <a:noFill/>
          <a:ln/>
        </p:spPr>
        <p:txBody>
          <a:bodyPr wrap="square" lIns="0" tIns="0" rIns="0" bIns="0" rtlCol="0" anchor="t"/>
          <a:lstStyle/>
          <a:p>
            <a:pPr algn="l" indent="0" marL="0">
              <a:lnSpc>
                <a:spcPts val="1550"/>
              </a:lnSpc>
              <a:buNone/>
            </a:pPr>
            <a:r>
              <a:rPr lang="en-US" sz="1150" dirty="0">
                <a:solidFill>
                  <a:srgbClr val="475569"/>
                </a:solidFill>
                <a:latin typeface="Calibri" pitchFamily="34" charset="0"/>
                <a:ea typeface="Calibri" pitchFamily="34" charset="-122"/>
                <a:cs typeface="Calibri" pitchFamily="34" charset="-120"/>
              </a:rPr>
              <a:t>Every number on that screen is served by the Flask API from a local record store. Nothing is hard-coded.</a:t>
            </a:r>
            <a:endParaRPr lang="en-US" sz="1150" dirty="0"/>
          </a:p>
        </p:txBody>
      </p:sp>
      <p:sp>
        <p:nvSpPr>
          <p:cNvPr id="10" name="Shape 6"/>
          <p:cNvSpPr/>
          <p:nvPr/>
        </p:nvSpPr>
        <p:spPr>
          <a:xfrm>
            <a:off x="7863840" y="2880360"/>
            <a:ext cx="3611880" cy="1234440"/>
          </a:xfrm>
          <a:prstGeom prst="roundRect">
            <a:avLst>
              <a:gd name="adj" fmla="val 11852"/>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11" name="Shape 7"/>
          <p:cNvSpPr/>
          <p:nvPr/>
        </p:nvSpPr>
        <p:spPr>
          <a:xfrm>
            <a:off x="8138160" y="3154680"/>
            <a:ext cx="164592" cy="164592"/>
          </a:xfrm>
          <a:prstGeom prst="ellipse">
            <a:avLst/>
          </a:prstGeom>
          <a:solidFill>
            <a:srgbClr val="8B5CF6"/>
          </a:solidFill>
          <a:ln/>
        </p:spPr>
      </p:sp>
      <p:sp>
        <p:nvSpPr>
          <p:cNvPr id="12" name="Text 8"/>
          <p:cNvSpPr txBox="1"/>
          <p:nvPr/>
        </p:nvSpPr>
        <p:spPr>
          <a:xfrm>
            <a:off x="8430768" y="3081528"/>
            <a:ext cx="2743200" cy="292608"/>
          </a:xfrm>
          <a:prstGeom prst="rect">
            <a:avLst/>
          </a:prstGeom>
          <a:noFill/>
          <a:ln/>
        </p:spPr>
        <p:txBody>
          <a:bodyPr wrap="square" lIns="0" tIns="0" rIns="0" bIns="0" rtlCol="0" anchor="ctr"/>
          <a:lstStyle/>
          <a:p>
            <a:pPr indent="0" marL="0">
              <a:buNone/>
            </a:pPr>
            <a:r>
              <a:rPr lang="en-US" sz="1350" b="1" dirty="0">
                <a:solidFill>
                  <a:srgbClr val="0B1120"/>
                </a:solidFill>
                <a:latin typeface="Arial" pitchFamily="34" charset="0"/>
                <a:ea typeface="Arial" pitchFamily="34" charset="-122"/>
                <a:cs typeface="Arial" pitchFamily="34" charset="-120"/>
              </a:rPr>
              <a:t>It writes back</a:t>
            </a:r>
            <a:endParaRPr lang="en-US" sz="1350" dirty="0"/>
          </a:p>
        </p:txBody>
      </p:sp>
      <p:sp>
        <p:nvSpPr>
          <p:cNvPr id="13" name="Text 9"/>
          <p:cNvSpPr txBox="1"/>
          <p:nvPr/>
        </p:nvSpPr>
        <p:spPr>
          <a:xfrm>
            <a:off x="8138160" y="3447288"/>
            <a:ext cx="3063240" cy="594360"/>
          </a:xfrm>
          <a:prstGeom prst="rect">
            <a:avLst/>
          </a:prstGeom>
          <a:noFill/>
          <a:ln/>
        </p:spPr>
        <p:txBody>
          <a:bodyPr wrap="square" lIns="0" tIns="0" rIns="0" bIns="0" rtlCol="0" anchor="t"/>
          <a:lstStyle/>
          <a:p>
            <a:pPr algn="l" indent="0" marL="0">
              <a:lnSpc>
                <a:spcPts val="1550"/>
              </a:lnSpc>
              <a:buNone/>
            </a:pPr>
            <a:r>
              <a:rPr lang="en-US" sz="1150" dirty="0">
                <a:solidFill>
                  <a:srgbClr val="475569"/>
                </a:solidFill>
                <a:latin typeface="Calibri" pitchFamily="34" charset="0"/>
                <a:ea typeface="Calibri" pitchFamily="34" charset="-122"/>
                <a:cs typeface="Calibri" pitchFamily="34" charset="-120"/>
              </a:rPr>
              <a:t>Tick a medication or a focus task and it persists. Restart the server and it is still ticked.</a:t>
            </a:r>
            <a:endParaRPr lang="en-US" sz="1150" dirty="0"/>
          </a:p>
        </p:txBody>
      </p:sp>
      <p:sp>
        <p:nvSpPr>
          <p:cNvPr id="14" name="Shape 10"/>
          <p:cNvSpPr/>
          <p:nvPr/>
        </p:nvSpPr>
        <p:spPr>
          <a:xfrm>
            <a:off x="7863840" y="4297680"/>
            <a:ext cx="3611880" cy="1234440"/>
          </a:xfrm>
          <a:prstGeom prst="roundRect">
            <a:avLst>
              <a:gd name="adj" fmla="val 11852"/>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15" name="Shape 11"/>
          <p:cNvSpPr/>
          <p:nvPr/>
        </p:nvSpPr>
        <p:spPr>
          <a:xfrm>
            <a:off x="8138160" y="4572000"/>
            <a:ext cx="164592" cy="164592"/>
          </a:xfrm>
          <a:prstGeom prst="ellipse">
            <a:avLst/>
          </a:prstGeom>
          <a:solidFill>
            <a:srgbClr val="14B8A6"/>
          </a:solidFill>
          <a:ln/>
        </p:spPr>
      </p:sp>
      <p:sp>
        <p:nvSpPr>
          <p:cNvPr id="16" name="Text 12"/>
          <p:cNvSpPr txBox="1"/>
          <p:nvPr/>
        </p:nvSpPr>
        <p:spPr>
          <a:xfrm>
            <a:off x="8430768" y="4498848"/>
            <a:ext cx="2743200" cy="292608"/>
          </a:xfrm>
          <a:prstGeom prst="rect">
            <a:avLst/>
          </a:prstGeom>
          <a:noFill/>
          <a:ln/>
        </p:spPr>
        <p:txBody>
          <a:bodyPr wrap="square" lIns="0" tIns="0" rIns="0" bIns="0" rtlCol="0" anchor="ctr"/>
          <a:lstStyle/>
          <a:p>
            <a:pPr indent="0" marL="0">
              <a:buNone/>
            </a:pPr>
            <a:r>
              <a:rPr lang="en-US" sz="1350" b="1" dirty="0">
                <a:solidFill>
                  <a:srgbClr val="0B1120"/>
                </a:solidFill>
                <a:latin typeface="Arial" pitchFamily="34" charset="0"/>
                <a:ea typeface="Arial" pitchFamily="34" charset="-122"/>
                <a:cs typeface="Arial" pitchFamily="34" charset="-120"/>
              </a:rPr>
              <a:t>Built to a design system</a:t>
            </a:r>
            <a:endParaRPr lang="en-US" sz="1350" dirty="0"/>
          </a:p>
        </p:txBody>
      </p:sp>
      <p:sp>
        <p:nvSpPr>
          <p:cNvPr id="17" name="Text 13"/>
          <p:cNvSpPr txBox="1"/>
          <p:nvPr/>
        </p:nvSpPr>
        <p:spPr>
          <a:xfrm>
            <a:off x="8138160" y="4864608"/>
            <a:ext cx="3063240" cy="594360"/>
          </a:xfrm>
          <a:prstGeom prst="rect">
            <a:avLst/>
          </a:prstGeom>
          <a:noFill/>
          <a:ln/>
        </p:spPr>
        <p:txBody>
          <a:bodyPr wrap="square" lIns="0" tIns="0" rIns="0" bIns="0" rtlCol="0" anchor="t"/>
          <a:lstStyle/>
          <a:p>
            <a:pPr algn="l" indent="0" marL="0">
              <a:lnSpc>
                <a:spcPts val="1550"/>
              </a:lnSpc>
              <a:buNone/>
            </a:pPr>
            <a:r>
              <a:rPr lang="en-US" sz="1150" dirty="0">
                <a:solidFill>
                  <a:srgbClr val="475569"/>
                </a:solidFill>
                <a:latin typeface="Calibri" pitchFamily="34" charset="0"/>
                <a:ea typeface="Calibri" pitchFamily="34" charset="-122"/>
                <a:cs typeface="Calibri" pitchFamily="34" charset="-120"/>
              </a:rPr>
              <a:t>15 modular React components, plain CSS, one stateful container, wrapped in an error boundary.</a:t>
            </a:r>
            <a:endParaRPr lang="en-US" sz="1150" dirty="0"/>
          </a:p>
        </p:txBody>
      </p:sp>
      <p:sp>
        <p:nvSpPr>
          <p:cNvPr id="18" name="Text 14"/>
          <p:cNvSpPr txBox="1"/>
          <p:nvPr/>
        </p:nvSpPr>
        <p:spPr>
          <a:xfrm>
            <a:off x="685800" y="5779008"/>
            <a:ext cx="6949440" cy="365760"/>
          </a:xfrm>
          <a:prstGeom prst="rect">
            <a:avLst/>
          </a:prstGeom>
          <a:noFill/>
          <a:ln/>
        </p:spPr>
        <p:txBody>
          <a:bodyPr wrap="square" lIns="0" tIns="0" rIns="0" bIns="0" rtlCol="0" anchor="t"/>
          <a:lstStyle/>
          <a:p>
            <a:pPr algn="l" indent="0" marL="0">
              <a:lnSpc>
                <a:spcPts val="2100"/>
              </a:lnSpc>
              <a:buNone/>
            </a:pPr>
            <a:r>
              <a:rPr lang="en-US" sz="1200" dirty="0">
                <a:solidFill>
                  <a:srgbClr val="334155"/>
                </a:solidFill>
                <a:latin typeface="Calibri" pitchFamily="34" charset="0"/>
                <a:ea typeface="Calibri" pitchFamily="34" charset="-122"/>
                <a:cs typeface="Calibri" pitchFamily="34" charset="-120"/>
              </a:rPr>
              <a:t>React 19 + Vite  ·  Flask backend  ·  13 REST endpoints  ·  local JSON record store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85800" y="256032"/>
            <a:ext cx="10789920" cy="274320"/>
          </a:xfrm>
          <a:prstGeom prst="rect">
            <a:avLst/>
          </a:prstGeom>
          <a:noFill/>
          <a:ln/>
        </p:spPr>
        <p:txBody>
          <a:bodyPr wrap="square" lIns="0" tIns="0" rIns="0" bIns="0" rtlCol="0" anchor="ctr"/>
          <a:lstStyle/>
          <a:p>
            <a:pPr indent="0" marL="0">
              <a:buNone/>
            </a:pPr>
            <a:r>
              <a:rPr lang="en-US" sz="1150" b="1" spc="200" kern="0" dirty="0">
                <a:solidFill>
                  <a:srgbClr val="3B82F6"/>
                </a:solidFill>
                <a:latin typeface="Calibri" pitchFamily="34" charset="0"/>
                <a:ea typeface="Calibri" pitchFamily="34" charset="-122"/>
                <a:cs typeface="Calibri" pitchFamily="34" charset="-120"/>
              </a:rPr>
              <a:t>ARCHITECTURE</a:t>
            </a:r>
            <a:endParaRPr lang="en-US" sz="1150" dirty="0"/>
          </a:p>
        </p:txBody>
      </p:sp>
      <p:sp>
        <p:nvSpPr>
          <p:cNvPr id="4" name="Text 1"/>
          <p:cNvSpPr txBox="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rgbClr val="0B1120"/>
                </a:solidFill>
                <a:latin typeface="Arial" pitchFamily="34" charset="0"/>
                <a:ea typeface="Arial" pitchFamily="34" charset="-122"/>
                <a:cs typeface="Arial" pitchFamily="34" charset="-120"/>
              </a:rPr>
              <a:t>Built so the AI can fail without the product failing</a:t>
            </a:r>
            <a:endParaRPr lang="en-US" sz="3200" dirty="0"/>
          </a:p>
        </p:txBody>
      </p:sp>
      <p:sp>
        <p:nvSpPr>
          <p:cNvPr id="5" name="Shape 2"/>
          <p:cNvSpPr/>
          <p:nvPr/>
        </p:nvSpPr>
        <p:spPr>
          <a:xfrm>
            <a:off x="685800" y="1600200"/>
            <a:ext cx="3108960" cy="1828800"/>
          </a:xfrm>
          <a:prstGeom prst="roundRect">
            <a:avLst>
              <a:gd name="adj" fmla="val 8000"/>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6" name="Text 3"/>
          <p:cNvSpPr txBox="1"/>
          <p:nvPr/>
        </p:nvSpPr>
        <p:spPr>
          <a:xfrm>
            <a:off x="960120" y="1810512"/>
            <a:ext cx="2651760" cy="274320"/>
          </a:xfrm>
          <a:prstGeom prst="rect">
            <a:avLst/>
          </a:prstGeom>
          <a:noFill/>
          <a:ln/>
        </p:spPr>
        <p:txBody>
          <a:bodyPr wrap="square" lIns="0" tIns="0" rIns="0" bIns="0" rtlCol="0" anchor="ctr"/>
          <a:lstStyle/>
          <a:p>
            <a:pPr indent="0" marL="0">
              <a:buNone/>
            </a:pPr>
            <a:r>
              <a:rPr lang="en-US" sz="1500" b="1" dirty="0">
                <a:solidFill>
                  <a:srgbClr val="3B82F6"/>
                </a:solidFill>
                <a:latin typeface="Arial" pitchFamily="34" charset="0"/>
                <a:ea typeface="Arial" pitchFamily="34" charset="-122"/>
                <a:cs typeface="Arial" pitchFamily="34" charset="-120"/>
              </a:rPr>
              <a:t>Frontend</a:t>
            </a:r>
            <a:endParaRPr lang="en-US" sz="1500" dirty="0"/>
          </a:p>
        </p:txBody>
      </p:sp>
      <p:sp>
        <p:nvSpPr>
          <p:cNvPr id="7" name="Text 4"/>
          <p:cNvSpPr txBox="1"/>
          <p:nvPr/>
        </p:nvSpPr>
        <p:spPr>
          <a:xfrm>
            <a:off x="960120" y="2157984"/>
            <a:ext cx="2651760" cy="1188720"/>
          </a:xfrm>
          <a:prstGeom prst="rect">
            <a:avLst/>
          </a:prstGeom>
          <a:noFill/>
          <a:ln/>
        </p:spPr>
        <p:txBody>
          <a:bodyPr wrap="square" lIns="0" tIns="0" rIns="0" bIns="0" rtlCol="0" anchor="t"/>
          <a:lstStyle/>
          <a:p>
            <a:pPr algn="l" indent="0" marL="0">
              <a:lnSpc>
                <a:spcPts val="1800"/>
              </a:lnSpc>
              <a:buNone/>
            </a:pPr>
            <a:r>
              <a:rPr lang="en-US" sz="1250" dirty="0">
                <a:solidFill>
                  <a:srgbClr val="475569"/>
                </a:solidFill>
                <a:latin typeface="Calibri" pitchFamily="34" charset="0"/>
                <a:ea typeface="Calibri" pitchFamily="34" charset="-122"/>
                <a:cs typeface="Calibri" pitchFamily="34" charset="-120"/>
              </a:rPr>
              <a:t>React 19 · Vite · plain CSS</a:t>
            </a:r>
            <a:endParaRPr lang="en-US" sz="1250" dirty="0"/>
          </a:p>
          <a:p>
            <a:pPr algn="l" indent="0" marL="0">
              <a:lnSpc>
                <a:spcPts val="1800"/>
              </a:lnSpc>
              <a:buNone/>
            </a:pPr>
            <a:r>
              <a:rPr lang="en-US" sz="1250" dirty="0">
                <a:solidFill>
                  <a:srgbClr val="475569"/>
                </a:solidFill>
                <a:latin typeface="Calibri" pitchFamily="34" charset="0"/>
                <a:ea typeface="Calibri" pitchFamily="34" charset="-122"/>
                <a:cs typeface="Calibri" pitchFamily="34" charset="-120"/>
              </a:rPr>
              <a:t>15 components</a:t>
            </a:r>
            <a:endParaRPr lang="en-US" sz="1250" dirty="0"/>
          </a:p>
          <a:p>
            <a:pPr algn="l" indent="0" marL="0">
              <a:lnSpc>
                <a:spcPts val="1800"/>
              </a:lnSpc>
              <a:buNone/>
            </a:pPr>
            <a:r>
              <a:rPr lang="en-US" sz="1250" dirty="0">
                <a:solidFill>
                  <a:srgbClr val="475569"/>
                </a:solidFill>
                <a:latin typeface="Calibri" pitchFamily="34" charset="0"/>
                <a:ea typeface="Calibri" pitchFamily="34" charset="-122"/>
                <a:cs typeface="Calibri" pitchFamily="34" charset="-120"/>
              </a:rPr>
              <a:t>One stateful container</a:t>
            </a:r>
            <a:endParaRPr lang="en-US" sz="1250" dirty="0"/>
          </a:p>
          <a:p>
            <a:pPr algn="l" indent="0" marL="0">
              <a:lnSpc>
                <a:spcPts val="1800"/>
              </a:lnSpc>
              <a:buNone/>
            </a:pPr>
            <a:r>
              <a:rPr lang="en-US" sz="1250" dirty="0">
                <a:solidFill>
                  <a:srgbClr val="475569"/>
                </a:solidFill>
                <a:latin typeface="Calibri" pitchFamily="34" charset="0"/>
                <a:ea typeface="Calibri" pitchFamily="34" charset="-122"/>
                <a:cs typeface="Calibri" pitchFamily="34" charset="-120"/>
              </a:rPr>
              <a:t>Error boundary</a:t>
            </a:r>
            <a:endParaRPr lang="en-US" sz="1250" dirty="0"/>
          </a:p>
        </p:txBody>
      </p:sp>
      <p:sp>
        <p:nvSpPr>
          <p:cNvPr id="8" name="Shape 5"/>
          <p:cNvSpPr/>
          <p:nvPr/>
        </p:nvSpPr>
        <p:spPr>
          <a:xfrm>
            <a:off x="4526280" y="1600200"/>
            <a:ext cx="3108960" cy="1828800"/>
          </a:xfrm>
          <a:prstGeom prst="roundRect">
            <a:avLst>
              <a:gd name="adj" fmla="val 8000"/>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9" name="Text 6"/>
          <p:cNvSpPr txBox="1"/>
          <p:nvPr/>
        </p:nvSpPr>
        <p:spPr>
          <a:xfrm>
            <a:off x="4800600" y="1810512"/>
            <a:ext cx="2651760" cy="274320"/>
          </a:xfrm>
          <a:prstGeom prst="rect">
            <a:avLst/>
          </a:prstGeom>
          <a:noFill/>
          <a:ln/>
        </p:spPr>
        <p:txBody>
          <a:bodyPr wrap="square" lIns="0" tIns="0" rIns="0" bIns="0" rtlCol="0" anchor="ctr"/>
          <a:lstStyle/>
          <a:p>
            <a:pPr indent="0" marL="0">
              <a:buNone/>
            </a:pPr>
            <a:r>
              <a:rPr lang="en-US" sz="1500" b="1" dirty="0">
                <a:solidFill>
                  <a:srgbClr val="8B5CF6"/>
                </a:solidFill>
                <a:latin typeface="Arial" pitchFamily="34" charset="0"/>
                <a:ea typeface="Arial" pitchFamily="34" charset="-122"/>
                <a:cs typeface="Arial" pitchFamily="34" charset="-120"/>
              </a:rPr>
              <a:t>Backend</a:t>
            </a:r>
            <a:endParaRPr lang="en-US" sz="1500" dirty="0"/>
          </a:p>
        </p:txBody>
      </p:sp>
      <p:sp>
        <p:nvSpPr>
          <p:cNvPr id="10" name="Text 7"/>
          <p:cNvSpPr txBox="1"/>
          <p:nvPr/>
        </p:nvSpPr>
        <p:spPr>
          <a:xfrm>
            <a:off x="4800600" y="2157984"/>
            <a:ext cx="2651760" cy="1188720"/>
          </a:xfrm>
          <a:prstGeom prst="rect">
            <a:avLst/>
          </a:prstGeom>
          <a:noFill/>
          <a:ln/>
        </p:spPr>
        <p:txBody>
          <a:bodyPr wrap="square" lIns="0" tIns="0" rIns="0" bIns="0" rtlCol="0" anchor="t"/>
          <a:lstStyle/>
          <a:p>
            <a:pPr algn="l" indent="0" marL="0">
              <a:lnSpc>
                <a:spcPts val="1800"/>
              </a:lnSpc>
              <a:buNone/>
            </a:pPr>
            <a:r>
              <a:rPr lang="en-US" sz="1250" dirty="0">
                <a:solidFill>
                  <a:srgbClr val="475569"/>
                </a:solidFill>
                <a:latin typeface="Calibri" pitchFamily="34" charset="0"/>
                <a:ea typeface="Calibri" pitchFamily="34" charset="-122"/>
                <a:cs typeface="Calibri" pitchFamily="34" charset="-120"/>
              </a:rPr>
              <a:t>Python Flask</a:t>
            </a:r>
            <a:endParaRPr lang="en-US" sz="1250" dirty="0"/>
          </a:p>
          <a:p>
            <a:pPr algn="l" indent="0" marL="0">
              <a:lnSpc>
                <a:spcPts val="1800"/>
              </a:lnSpc>
              <a:buNone/>
            </a:pPr>
            <a:r>
              <a:rPr lang="en-US" sz="1250" dirty="0">
                <a:solidFill>
                  <a:srgbClr val="475569"/>
                </a:solidFill>
                <a:latin typeface="Calibri" pitchFamily="34" charset="0"/>
                <a:ea typeface="Calibri" pitchFamily="34" charset="-122"/>
                <a:cs typeface="Calibri" pitchFamily="34" charset="-120"/>
              </a:rPr>
              <a:t>13 REST endpoints</a:t>
            </a:r>
            <a:endParaRPr lang="en-US" sz="1250" dirty="0"/>
          </a:p>
          <a:p>
            <a:pPr algn="l" indent="0" marL="0">
              <a:lnSpc>
                <a:spcPts val="1800"/>
              </a:lnSpc>
              <a:buNone/>
            </a:pPr>
            <a:r>
              <a:rPr lang="en-US" sz="1250" dirty="0">
                <a:solidFill>
                  <a:srgbClr val="475569"/>
                </a:solidFill>
                <a:latin typeface="Calibri" pitchFamily="34" charset="0"/>
                <a:ea typeface="Calibri" pitchFamily="34" charset="-122"/>
                <a:cs typeface="Calibri" pitchFamily="34" charset="-120"/>
              </a:rPr>
              <a:t>Upload validation</a:t>
            </a:r>
            <a:endParaRPr lang="en-US" sz="1250" dirty="0"/>
          </a:p>
          <a:p>
            <a:pPr algn="l" indent="0" marL="0">
              <a:lnSpc>
                <a:spcPts val="1800"/>
              </a:lnSpc>
              <a:buNone/>
            </a:pPr>
            <a:r>
              <a:rPr lang="en-US" sz="1250" dirty="0">
                <a:solidFill>
                  <a:srgbClr val="475569"/>
                </a:solidFill>
                <a:latin typeface="Calibri" pitchFamily="34" charset="0"/>
                <a:ea typeface="Calibri" pitchFamily="34" charset="-122"/>
                <a:cs typeface="Calibri" pitchFamily="34" charset="-120"/>
              </a:rPr>
              <a:t>IBM Bob engine</a:t>
            </a:r>
            <a:endParaRPr lang="en-US" sz="1250" dirty="0"/>
          </a:p>
        </p:txBody>
      </p:sp>
      <p:sp>
        <p:nvSpPr>
          <p:cNvPr id="11" name="Shape 8"/>
          <p:cNvSpPr/>
          <p:nvPr/>
        </p:nvSpPr>
        <p:spPr>
          <a:xfrm>
            <a:off x="8366760" y="1600200"/>
            <a:ext cx="3108960" cy="1828800"/>
          </a:xfrm>
          <a:prstGeom prst="roundRect">
            <a:avLst>
              <a:gd name="adj" fmla="val 8000"/>
            </a:avLst>
          </a:prstGeom>
          <a:solidFill>
            <a:srgbClr val="F1F5F9"/>
          </a:solidFill>
          <a:ln w="15875">
            <a:solidFill>
              <a:srgbClr val="94A3B8"/>
            </a:solidFill>
            <a:prstDash val="dash"/>
          </a:ln>
        </p:spPr>
      </p:sp>
      <p:sp>
        <p:nvSpPr>
          <p:cNvPr id="12" name="Text 9"/>
          <p:cNvSpPr txBox="1"/>
          <p:nvPr/>
        </p:nvSpPr>
        <p:spPr>
          <a:xfrm>
            <a:off x="8641080" y="1810512"/>
            <a:ext cx="2651760" cy="274320"/>
          </a:xfrm>
          <a:prstGeom prst="rect">
            <a:avLst/>
          </a:prstGeom>
          <a:noFill/>
          <a:ln/>
        </p:spPr>
        <p:txBody>
          <a:bodyPr wrap="square" lIns="0" tIns="0" rIns="0" bIns="0" rtlCol="0" anchor="ctr"/>
          <a:lstStyle/>
          <a:p>
            <a:pPr indent="0" marL="0">
              <a:buNone/>
            </a:pPr>
            <a:r>
              <a:rPr lang="en-US" sz="1500" b="1" dirty="0">
                <a:solidFill>
                  <a:srgbClr val="334155"/>
                </a:solidFill>
                <a:latin typeface="Arial" pitchFamily="34" charset="0"/>
                <a:ea typeface="Arial" pitchFamily="34" charset="-122"/>
                <a:cs typeface="Arial" pitchFamily="34" charset="-120"/>
              </a:rPr>
              <a:t>IBM watsonx.ai</a:t>
            </a:r>
            <a:endParaRPr lang="en-US" sz="1500" dirty="0"/>
          </a:p>
        </p:txBody>
      </p:sp>
      <p:sp>
        <p:nvSpPr>
          <p:cNvPr id="13" name="Text 10"/>
          <p:cNvSpPr txBox="1"/>
          <p:nvPr/>
        </p:nvSpPr>
        <p:spPr>
          <a:xfrm>
            <a:off x="8641080" y="2157984"/>
            <a:ext cx="2651760" cy="1188720"/>
          </a:xfrm>
          <a:prstGeom prst="rect">
            <a:avLst/>
          </a:prstGeom>
          <a:noFill/>
          <a:ln/>
        </p:spPr>
        <p:txBody>
          <a:bodyPr wrap="square" lIns="0" tIns="0" rIns="0" bIns="0" rtlCol="0" anchor="t"/>
          <a:lstStyle/>
          <a:p>
            <a:pPr algn="l" indent="0" marL="0">
              <a:lnSpc>
                <a:spcPts val="1800"/>
              </a:lnSpc>
              <a:buNone/>
            </a:pPr>
            <a:r>
              <a:rPr lang="en-US" sz="1250" dirty="0">
                <a:solidFill>
                  <a:srgbClr val="334155"/>
                </a:solidFill>
                <a:latin typeface="Calibri" pitchFamily="34" charset="0"/>
                <a:ea typeface="Calibri" pitchFamily="34" charset="-122"/>
                <a:cs typeface="Calibri" pitchFamily="34" charset="-120"/>
              </a:rPr>
              <a:t>Granite text generation</a:t>
            </a:r>
            <a:endParaRPr lang="en-US" sz="1250" dirty="0"/>
          </a:p>
          <a:p>
            <a:pPr algn="l" indent="0" marL="0">
              <a:lnSpc>
                <a:spcPts val="1800"/>
              </a:lnSpc>
              <a:buNone/>
            </a:pPr>
            <a:r>
              <a:rPr lang="en-US" sz="1250" dirty="0">
                <a:solidFill>
                  <a:srgbClr val="334155"/>
                </a:solidFill>
                <a:latin typeface="Calibri" pitchFamily="34" charset="0"/>
                <a:ea typeface="Calibri" pitchFamily="34" charset="-122"/>
                <a:cs typeface="Calibri" pitchFamily="34" charset="-120"/>
              </a:rPr>
              <a:t>IAM token exchange</a:t>
            </a:r>
            <a:endParaRPr lang="en-US" sz="1250" dirty="0"/>
          </a:p>
          <a:p>
            <a:pPr algn="l" indent="0" marL="0">
              <a:lnSpc>
                <a:spcPts val="1800"/>
              </a:lnSpc>
              <a:buNone/>
            </a:pPr>
            <a:r>
              <a:rPr lang="en-US" sz="1250" dirty="0">
                <a:solidFill>
                  <a:srgbClr val="334155"/>
                </a:solidFill>
                <a:latin typeface="Calibri" pitchFamily="34" charset="0"/>
                <a:ea typeface="Calibri" pitchFamily="34" charset="-122"/>
                <a:cs typeface="Calibri" pitchFamily="34" charset="-120"/>
              </a:rPr>
              <a:t>OPTIONAL — remove this</a:t>
            </a:r>
            <a:endParaRPr lang="en-US" sz="1250" dirty="0"/>
          </a:p>
          <a:p>
            <a:pPr algn="l" indent="0" marL="0">
              <a:lnSpc>
                <a:spcPts val="1800"/>
              </a:lnSpc>
              <a:buNone/>
            </a:pPr>
            <a:r>
              <a:rPr lang="en-US" sz="1250" dirty="0">
                <a:solidFill>
                  <a:srgbClr val="334155"/>
                </a:solidFill>
                <a:latin typeface="Calibri" pitchFamily="34" charset="0"/>
                <a:ea typeface="Calibri" pitchFamily="34" charset="-122"/>
                <a:cs typeface="Calibri" pitchFamily="34" charset="-120"/>
              </a:rPr>
              <a:t>and nothing breaks</a:t>
            </a:r>
            <a:endParaRPr lang="en-US" sz="1250" dirty="0"/>
          </a:p>
        </p:txBody>
      </p:sp>
      <p:sp>
        <p:nvSpPr>
          <p:cNvPr id="14" name="Shape 11"/>
          <p:cNvSpPr/>
          <p:nvPr/>
        </p:nvSpPr>
        <p:spPr>
          <a:xfrm>
            <a:off x="3913632" y="2377440"/>
            <a:ext cx="502920" cy="274320"/>
          </a:xfrm>
          <a:prstGeom prst="rightArrow">
            <a:avLst/>
          </a:prstGeom>
          <a:solidFill>
            <a:srgbClr val="CBD5E1"/>
          </a:solidFill>
          <a:ln/>
        </p:spPr>
      </p:sp>
      <p:sp>
        <p:nvSpPr>
          <p:cNvPr id="15" name="Shape 12"/>
          <p:cNvSpPr/>
          <p:nvPr/>
        </p:nvSpPr>
        <p:spPr>
          <a:xfrm>
            <a:off x="7754112" y="2377440"/>
            <a:ext cx="502920" cy="274320"/>
          </a:xfrm>
          <a:prstGeom prst="rightArrow">
            <a:avLst/>
          </a:prstGeom>
          <a:solidFill>
            <a:srgbClr val="CBD5E1"/>
          </a:solidFill>
          <a:ln/>
        </p:spPr>
      </p:sp>
      <p:sp>
        <p:nvSpPr>
          <p:cNvPr id="16" name="Shape 13"/>
          <p:cNvSpPr/>
          <p:nvPr/>
        </p:nvSpPr>
        <p:spPr>
          <a:xfrm>
            <a:off x="4526280" y="3749040"/>
            <a:ext cx="3108960" cy="1234440"/>
          </a:xfrm>
          <a:prstGeom prst="roundRect">
            <a:avLst>
              <a:gd name="adj" fmla="val 11852"/>
            </a:avLst>
          </a:prstGeom>
          <a:solidFill>
            <a:srgbClr val="0F172A"/>
          </a:solidFill>
          <a:ln w="12700">
            <a:solidFill>
              <a:srgbClr val="0F172A"/>
            </a:solidFill>
            <a:prstDash val="solid"/>
          </a:ln>
          <a:effectLst>
            <a:outerShdw sx="100000" sy="100000" kx="0" ky="0" algn="bl" rotWithShape="0" blurRad="228600" dist="50800" dir="5400000">
              <a:srgbClr val="000000">
                <a:alpha val="18000"/>
              </a:srgbClr>
            </a:outerShdw>
          </a:effectLst>
        </p:spPr>
      </p:sp>
      <p:sp>
        <p:nvSpPr>
          <p:cNvPr id="17" name="Text 14"/>
          <p:cNvSpPr txBox="1"/>
          <p:nvPr/>
        </p:nvSpPr>
        <p:spPr>
          <a:xfrm>
            <a:off x="4800600" y="3931920"/>
            <a:ext cx="2651760" cy="274320"/>
          </a:xfrm>
          <a:prstGeom prst="rect">
            <a:avLst/>
          </a:prstGeom>
          <a:noFill/>
          <a:ln/>
        </p:spPr>
        <p:txBody>
          <a:bodyPr wrap="square" lIns="0" tIns="0" rIns="0" bIns="0" rtlCol="0" anchor="ctr"/>
          <a:lstStyle/>
          <a:p>
            <a:pPr indent="0" marL="0">
              <a:buNone/>
            </a:pPr>
            <a:r>
              <a:rPr lang="en-US" sz="1400" b="1" dirty="0">
                <a:solidFill>
                  <a:srgbClr val="14B8A6"/>
                </a:solidFill>
                <a:latin typeface="Arial" pitchFamily="34" charset="0"/>
                <a:ea typeface="Arial" pitchFamily="34" charset="-122"/>
                <a:cs typeface="Arial" pitchFamily="34" charset="-120"/>
              </a:rPr>
              <a:t>Local disk</a:t>
            </a:r>
            <a:endParaRPr lang="en-US" sz="1400" dirty="0"/>
          </a:p>
        </p:txBody>
      </p:sp>
      <p:sp>
        <p:nvSpPr>
          <p:cNvPr id="18" name="Text 15"/>
          <p:cNvSpPr txBox="1"/>
          <p:nvPr/>
        </p:nvSpPr>
        <p:spPr>
          <a:xfrm>
            <a:off x="4800600" y="4261104"/>
            <a:ext cx="2651760" cy="548640"/>
          </a:xfrm>
          <a:prstGeom prst="rect">
            <a:avLst/>
          </a:prstGeom>
          <a:noFill/>
          <a:ln/>
        </p:spPr>
        <p:txBody>
          <a:bodyPr wrap="square" lIns="0" tIns="0" rIns="0" bIns="0" rtlCol="0" anchor="t"/>
          <a:lstStyle/>
          <a:p>
            <a:pPr algn="l" indent="0" marL="0">
              <a:lnSpc>
                <a:spcPts val="1700"/>
              </a:lnSpc>
              <a:buNone/>
            </a:pPr>
            <a:r>
              <a:rPr lang="en-US" sz="1200" dirty="0">
                <a:solidFill>
                  <a:srgbClr val="CBD5E1"/>
                </a:solidFill>
                <a:latin typeface="Calibri" pitchFamily="34" charset="0"/>
                <a:ea typeface="Calibri" pitchFamily="34" charset="-122"/>
                <a:cs typeface="Calibri" pitchFamily="34" charset="-120"/>
              </a:rPr>
              <a:t>database.json  ·  uploads/</a:t>
            </a:r>
            <a:endParaRPr lang="en-US" sz="1200" dirty="0"/>
          </a:p>
          <a:p>
            <a:pPr algn="l" indent="0" marL="0">
              <a:lnSpc>
                <a:spcPts val="1700"/>
              </a:lnSpc>
              <a:buNone/>
            </a:pPr>
            <a:r>
              <a:rPr lang="en-US" sz="1200" dirty="0">
                <a:solidFill>
                  <a:srgbClr val="CBD5E1"/>
                </a:solidFill>
                <a:latin typeface="Calibri" pitchFamily="34" charset="0"/>
                <a:ea typeface="Calibri" pitchFamily="34" charset="-122"/>
                <a:cs typeface="Calibri" pitchFamily="34" charset="-120"/>
              </a:rPr>
              <a:t>Atomic writes, mutex-guarded</a:t>
            </a:r>
            <a:endParaRPr lang="en-US" sz="1200" dirty="0"/>
          </a:p>
        </p:txBody>
      </p:sp>
      <p:sp>
        <p:nvSpPr>
          <p:cNvPr id="19" name="Shape 16"/>
          <p:cNvSpPr/>
          <p:nvPr/>
        </p:nvSpPr>
        <p:spPr>
          <a:xfrm>
            <a:off x="5943600" y="3474720"/>
            <a:ext cx="274320" cy="228600"/>
          </a:xfrm>
          <a:prstGeom prst="downArrow">
            <a:avLst/>
          </a:prstGeom>
          <a:solidFill>
            <a:srgbClr val="CBD5E1"/>
          </a:solidFill>
          <a:ln/>
        </p:spPr>
      </p:sp>
      <p:sp>
        <p:nvSpPr>
          <p:cNvPr id="20" name="Shape 17"/>
          <p:cNvSpPr/>
          <p:nvPr/>
        </p:nvSpPr>
        <p:spPr>
          <a:xfrm>
            <a:off x="685800" y="5257800"/>
            <a:ext cx="10789920" cy="914400"/>
          </a:xfrm>
          <a:prstGeom prst="roundRect">
            <a:avLst>
              <a:gd name="adj" fmla="val 16000"/>
            </a:avLst>
          </a:prstGeom>
          <a:solidFill>
            <a:srgbClr val="ECFDF5"/>
          </a:solidFill>
          <a:ln w="12700">
            <a:solidFill>
              <a:srgbClr val="A7F3D0"/>
            </a:solidFill>
            <a:prstDash val="solid"/>
          </a:ln>
          <a:effectLst>
            <a:outerShdw sx="100000" sy="100000" kx="0" ky="0" algn="bl" rotWithShape="0" blurRad="228600" dist="50800" dir="5400000">
              <a:srgbClr val="000000">
                <a:alpha val="18000"/>
              </a:srgbClr>
            </a:outerShdw>
          </a:effectLst>
        </p:spPr>
      </p:sp>
      <p:sp>
        <p:nvSpPr>
          <p:cNvPr id="21" name="Text 18"/>
          <p:cNvSpPr txBox="1"/>
          <p:nvPr/>
        </p:nvSpPr>
        <p:spPr>
          <a:xfrm>
            <a:off x="1005840" y="5440680"/>
            <a:ext cx="10149840" cy="548640"/>
          </a:xfrm>
          <a:prstGeom prst="rect">
            <a:avLst/>
          </a:prstGeom>
          <a:noFill/>
          <a:ln/>
        </p:spPr>
        <p:txBody>
          <a:bodyPr wrap="square" lIns="0" tIns="0" rIns="0" bIns="0" rtlCol="0" anchor="ctr"/>
          <a:lstStyle/>
          <a:p>
            <a:pPr indent="0" marL="0">
              <a:buNone/>
            </a:pPr>
            <a:r>
              <a:rPr lang="en-US" sz="1400" b="1" dirty="0">
                <a:solidFill>
                  <a:srgbClr val="065F46"/>
                </a:solidFill>
                <a:latin typeface="Calibri" pitchFamily="34" charset="0"/>
                <a:ea typeface="Calibri" pitchFamily="34" charset="-122"/>
                <a:cs typeface="Calibri" pitchFamily="34" charset="-120"/>
              </a:rPr>
              <a:t>Design principle:  the application organises health information. Clinical decisions remain with qualified medical professionals.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85800" y="256032"/>
            <a:ext cx="10789920" cy="274320"/>
          </a:xfrm>
          <a:prstGeom prst="rect">
            <a:avLst/>
          </a:prstGeom>
          <a:noFill/>
          <a:ln/>
        </p:spPr>
        <p:txBody>
          <a:bodyPr wrap="square" lIns="0" tIns="0" rIns="0" bIns="0" rtlCol="0" anchor="ctr"/>
          <a:lstStyle/>
          <a:p>
            <a:pPr indent="0" marL="0">
              <a:buNone/>
            </a:pPr>
            <a:r>
              <a:rPr lang="en-US" sz="1150" b="1" spc="200" kern="0" dirty="0">
                <a:solidFill>
                  <a:srgbClr val="14B8A6"/>
                </a:solidFill>
                <a:latin typeface="Calibri" pitchFamily="34" charset="0"/>
                <a:ea typeface="Calibri" pitchFamily="34" charset="-122"/>
                <a:cs typeface="Calibri" pitchFamily="34" charset="-120"/>
              </a:rPr>
              <a:t>IBM BOB</a:t>
            </a:r>
            <a:endParaRPr lang="en-US" sz="1150" dirty="0"/>
          </a:p>
        </p:txBody>
      </p:sp>
      <p:sp>
        <p:nvSpPr>
          <p:cNvPr id="4" name="Text 1"/>
          <p:cNvSpPr txBox="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A two-tier engine, so the assistant is never dead</a:t>
            </a:r>
            <a:endParaRPr lang="en-US" sz="3200" dirty="0"/>
          </a:p>
        </p:txBody>
      </p:sp>
      <p:sp>
        <p:nvSpPr>
          <p:cNvPr id="5" name="Shape 2"/>
          <p:cNvSpPr/>
          <p:nvPr/>
        </p:nvSpPr>
        <p:spPr>
          <a:xfrm>
            <a:off x="685800" y="1645920"/>
            <a:ext cx="5257800" cy="2788920"/>
          </a:xfrm>
          <a:prstGeom prst="roundRect">
            <a:avLst>
              <a:gd name="adj" fmla="val 5246"/>
            </a:avLst>
          </a:prstGeom>
          <a:solidFill>
            <a:srgbClr val="18213A"/>
          </a:solidFill>
          <a:ln w="12700">
            <a:solidFill>
              <a:srgbClr val="2E4270"/>
            </a:solidFill>
            <a:prstDash val="solid"/>
          </a:ln>
          <a:effectLst>
            <a:outerShdw sx="100000" sy="100000" kx="0" ky="0" algn="bl" rotWithShape="0" blurRad="228600" dist="50800" dir="5400000">
              <a:srgbClr val="000000">
                <a:alpha val="18000"/>
              </a:srgbClr>
            </a:outerShdw>
          </a:effectLst>
        </p:spPr>
      </p:sp>
      <p:sp>
        <p:nvSpPr>
          <p:cNvPr id="6" name="Shape 3"/>
          <p:cNvSpPr/>
          <p:nvPr/>
        </p:nvSpPr>
        <p:spPr>
          <a:xfrm>
            <a:off x="1051560" y="1965960"/>
            <a:ext cx="566928" cy="566928"/>
          </a:xfrm>
          <a:prstGeom prst="ellipse">
            <a:avLst/>
          </a:prstGeom>
          <a:solidFill>
            <a:srgbClr val="3B82F6"/>
          </a:solidFill>
          <a:ln/>
        </p:spPr>
      </p:sp>
      <p:sp>
        <p:nvSpPr>
          <p:cNvPr id="7" name="Text 4"/>
          <p:cNvSpPr txBox="1"/>
          <p:nvPr/>
        </p:nvSpPr>
        <p:spPr>
          <a:xfrm>
            <a:off x="1051560" y="196596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1783080" y="2011680"/>
            <a:ext cx="3931920" cy="320040"/>
          </a:xfrm>
          <a:prstGeom prst="rect">
            <a:avLst/>
          </a:prstGeom>
          <a:noFill/>
          <a:ln/>
        </p:spPr>
        <p:txBody>
          <a:bodyPr wrap="square" lIns="0" tIns="0" rIns="0" bIns="0" rtlCol="0" anchor="ctr"/>
          <a:lstStyle/>
          <a:p>
            <a:pPr indent="0" marL="0">
              <a:buNone/>
            </a:pPr>
            <a:r>
              <a:rPr lang="en-US" sz="1650" b="1" dirty="0">
                <a:solidFill>
                  <a:srgbClr val="FFFFFF"/>
                </a:solidFill>
                <a:latin typeface="Arial" pitchFamily="34" charset="0"/>
                <a:ea typeface="Arial" pitchFamily="34" charset="-122"/>
                <a:cs typeface="Arial" pitchFamily="34" charset="-120"/>
              </a:rPr>
              <a:t>Tier 1 — IBM watsonx.ai</a:t>
            </a:r>
            <a:endParaRPr lang="en-US" sz="1650" dirty="0"/>
          </a:p>
        </p:txBody>
      </p:sp>
      <p:sp>
        <p:nvSpPr>
          <p:cNvPr id="9" name="Text 6"/>
          <p:cNvSpPr txBox="1"/>
          <p:nvPr/>
        </p:nvSpPr>
        <p:spPr>
          <a:xfrm>
            <a:off x="1051560" y="2743200"/>
            <a:ext cx="4572000" cy="1005840"/>
          </a:xfrm>
          <a:prstGeom prst="rect">
            <a:avLst/>
          </a:prstGeom>
          <a:noFill/>
          <a:ln/>
        </p:spPr>
        <p:txBody>
          <a:bodyPr wrap="square" lIns="0" tIns="0" rIns="0" bIns="0" rtlCol="0" anchor="t"/>
          <a:lstStyle/>
          <a:p>
            <a:pPr algn="l" indent="0" marL="0">
              <a:lnSpc>
                <a:spcPts val="1850"/>
              </a:lnSpc>
              <a:buNone/>
            </a:pPr>
            <a:r>
              <a:rPr lang="en-US" sz="1300" dirty="0">
                <a:solidFill>
                  <a:srgbClr val="B6C2D9"/>
                </a:solidFill>
                <a:latin typeface="Calibri" pitchFamily="34" charset="0"/>
                <a:ea typeface="Calibri" pitchFamily="34" charset="-122"/>
                <a:cs typeface="Calibri" pitchFamily="34" charset="-120"/>
              </a:rPr>
              <a:t>Granite instruction model, called with the record serialised into the prompt. Activates automatically when credentials are present. IAM token cached until expiry.</a:t>
            </a:r>
            <a:endParaRPr lang="en-US" sz="1300" dirty="0"/>
          </a:p>
        </p:txBody>
      </p:sp>
      <p:sp>
        <p:nvSpPr>
          <p:cNvPr id="10" name="Text 7"/>
          <p:cNvSpPr txBox="1"/>
          <p:nvPr/>
        </p:nvSpPr>
        <p:spPr>
          <a:xfrm>
            <a:off x="1051560" y="3840480"/>
            <a:ext cx="4572000" cy="274320"/>
          </a:xfrm>
          <a:prstGeom prst="rect">
            <a:avLst/>
          </a:prstGeom>
          <a:noFill/>
          <a:ln/>
        </p:spPr>
        <p:txBody>
          <a:bodyPr wrap="square" lIns="0" tIns="0" rIns="0" bIns="0" rtlCol="0" anchor="ctr"/>
          <a:lstStyle/>
          <a:p>
            <a:pPr indent="0" marL="0">
              <a:buNone/>
            </a:pPr>
            <a:r>
              <a:rPr lang="en-US" sz="1150" b="1" dirty="0">
                <a:solidFill>
                  <a:srgbClr val="BFDBFE"/>
                </a:solidFill>
                <a:latin typeface="Calibri" pitchFamily="34" charset="0"/>
                <a:ea typeface="Calibri" pitchFamily="34" charset="-122"/>
                <a:cs typeface="Calibri" pitchFamily="34" charset="-120"/>
              </a:rPr>
              <a:t>Used when configured and reachable</a:t>
            </a:r>
            <a:endParaRPr lang="en-US" sz="1150" dirty="0"/>
          </a:p>
        </p:txBody>
      </p:sp>
      <p:sp>
        <p:nvSpPr>
          <p:cNvPr id="11" name="Shape 8"/>
          <p:cNvSpPr/>
          <p:nvPr/>
        </p:nvSpPr>
        <p:spPr>
          <a:xfrm>
            <a:off x="6217920" y="1645920"/>
            <a:ext cx="5257800" cy="2788920"/>
          </a:xfrm>
          <a:prstGeom prst="roundRect">
            <a:avLst>
              <a:gd name="adj" fmla="val 5246"/>
            </a:avLst>
          </a:prstGeom>
          <a:solidFill>
            <a:srgbClr val="18213A"/>
          </a:solidFill>
          <a:ln w="12700">
            <a:solidFill>
              <a:srgbClr val="1B5E52"/>
            </a:solidFill>
            <a:prstDash val="solid"/>
          </a:ln>
          <a:effectLst>
            <a:outerShdw sx="100000" sy="100000" kx="0" ky="0" algn="bl" rotWithShape="0" blurRad="228600" dist="50800" dir="5400000">
              <a:srgbClr val="000000">
                <a:alpha val="18000"/>
              </a:srgbClr>
            </a:outerShdw>
          </a:effectLst>
        </p:spPr>
      </p:sp>
      <p:sp>
        <p:nvSpPr>
          <p:cNvPr id="12" name="Shape 9"/>
          <p:cNvSpPr/>
          <p:nvPr/>
        </p:nvSpPr>
        <p:spPr>
          <a:xfrm>
            <a:off x="6583680" y="1965960"/>
            <a:ext cx="566928" cy="566928"/>
          </a:xfrm>
          <a:prstGeom prst="ellipse">
            <a:avLst/>
          </a:prstGeom>
          <a:solidFill>
            <a:srgbClr val="14B8A6"/>
          </a:solidFill>
          <a:ln/>
        </p:spPr>
      </p:sp>
      <p:sp>
        <p:nvSpPr>
          <p:cNvPr id="13" name="Text 10"/>
          <p:cNvSpPr txBox="1"/>
          <p:nvPr/>
        </p:nvSpPr>
        <p:spPr>
          <a:xfrm>
            <a:off x="6583680" y="196596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1"/>
          <p:cNvSpPr txBox="1"/>
          <p:nvPr/>
        </p:nvSpPr>
        <p:spPr>
          <a:xfrm>
            <a:off x="7315200" y="2011680"/>
            <a:ext cx="3931920" cy="320040"/>
          </a:xfrm>
          <a:prstGeom prst="rect">
            <a:avLst/>
          </a:prstGeom>
          <a:noFill/>
          <a:ln/>
        </p:spPr>
        <p:txBody>
          <a:bodyPr wrap="square" lIns="0" tIns="0" rIns="0" bIns="0" rtlCol="0" anchor="ctr"/>
          <a:lstStyle/>
          <a:p>
            <a:pPr indent="0" marL="0">
              <a:buNone/>
            </a:pPr>
            <a:r>
              <a:rPr lang="en-US" sz="1650" b="1" dirty="0">
                <a:solidFill>
                  <a:srgbClr val="FFFFFF"/>
                </a:solidFill>
                <a:latin typeface="Arial" pitchFamily="34" charset="0"/>
                <a:ea typeface="Arial" pitchFamily="34" charset="-122"/>
                <a:cs typeface="Arial" pitchFamily="34" charset="-120"/>
              </a:rPr>
              <a:t>Tier 2 — grounded local engine</a:t>
            </a:r>
            <a:endParaRPr lang="en-US" sz="1650" dirty="0"/>
          </a:p>
        </p:txBody>
      </p:sp>
      <p:sp>
        <p:nvSpPr>
          <p:cNvPr id="15" name="Text 12"/>
          <p:cNvSpPr txBox="1"/>
          <p:nvPr/>
        </p:nvSpPr>
        <p:spPr>
          <a:xfrm>
            <a:off x="6583680" y="2743200"/>
            <a:ext cx="4572000" cy="1005840"/>
          </a:xfrm>
          <a:prstGeom prst="rect">
            <a:avLst/>
          </a:prstGeom>
          <a:noFill/>
          <a:ln/>
        </p:spPr>
        <p:txBody>
          <a:bodyPr wrap="square" lIns="0" tIns="0" rIns="0" bIns="0" rtlCol="0" anchor="t"/>
          <a:lstStyle/>
          <a:p>
            <a:pPr algn="l" indent="0" marL="0">
              <a:lnSpc>
                <a:spcPts val="1850"/>
              </a:lnSpc>
              <a:buNone/>
            </a:pPr>
            <a:r>
              <a:rPr lang="en-US" sz="1300" dirty="0">
                <a:solidFill>
                  <a:srgbClr val="B6C2D9"/>
                </a:solidFill>
                <a:latin typeface="Calibri" pitchFamily="34" charset="0"/>
                <a:ea typeface="Calibri" pitchFamily="34" charset="-122"/>
                <a:cs typeface="Calibri" pitchFamily="34" charset="-120"/>
              </a:rPr>
              <a:t>Reads the record and computes the answer. No canned strings — every figure is derived from live state at request time. Runs with zero network.</a:t>
            </a:r>
            <a:endParaRPr lang="en-US" sz="1300" dirty="0"/>
          </a:p>
        </p:txBody>
      </p:sp>
      <p:sp>
        <p:nvSpPr>
          <p:cNvPr id="16" name="Text 13"/>
          <p:cNvSpPr txBox="1"/>
          <p:nvPr/>
        </p:nvSpPr>
        <p:spPr>
          <a:xfrm>
            <a:off x="6583680" y="3840480"/>
            <a:ext cx="4572000" cy="274320"/>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Automatic fallback — always available</a:t>
            </a:r>
            <a:endParaRPr lang="en-US" sz="1150" dirty="0"/>
          </a:p>
        </p:txBody>
      </p:sp>
      <p:sp>
        <p:nvSpPr>
          <p:cNvPr id="17" name="Shape 14"/>
          <p:cNvSpPr/>
          <p:nvPr/>
        </p:nvSpPr>
        <p:spPr>
          <a:xfrm>
            <a:off x="685800" y="4709160"/>
            <a:ext cx="10789920" cy="1417320"/>
          </a:xfrm>
          <a:prstGeom prst="roundRect">
            <a:avLst>
              <a:gd name="adj" fmla="val 10323"/>
            </a:avLst>
          </a:prstGeom>
          <a:solidFill>
            <a:srgbClr val="0A1628"/>
          </a:solidFill>
          <a:ln w="12700">
            <a:solidFill>
              <a:srgbClr val="1E3A5F"/>
            </a:solidFill>
            <a:prstDash val="solid"/>
          </a:ln>
          <a:effectLst>
            <a:outerShdw sx="100000" sy="100000" kx="0" ky="0" algn="bl" rotWithShape="0" blurRad="228600" dist="50800" dir="5400000">
              <a:srgbClr val="000000">
                <a:alpha val="18000"/>
              </a:srgbClr>
            </a:outerShdw>
          </a:effectLst>
        </p:spPr>
      </p:sp>
      <p:sp>
        <p:nvSpPr>
          <p:cNvPr id="18" name="Text 15"/>
          <p:cNvSpPr txBox="1"/>
          <p:nvPr/>
        </p:nvSpPr>
        <p:spPr>
          <a:xfrm>
            <a:off x="1051560" y="4892040"/>
            <a:ext cx="5486400" cy="274320"/>
          </a:xfrm>
          <a:prstGeom prst="rect">
            <a:avLst/>
          </a:prstGeom>
          <a:noFill/>
          <a:ln/>
        </p:spPr>
        <p:txBody>
          <a:bodyPr wrap="square" lIns="0" tIns="0" rIns="0" bIns="0" rtlCol="0" anchor="ctr"/>
          <a:lstStyle/>
          <a:p>
            <a:pPr indent="0" marL="0">
              <a:buNone/>
            </a:pPr>
            <a:r>
              <a:rPr lang="en-US" sz="1100" b="1" spc="140" kern="0" dirty="0">
                <a:solidFill>
                  <a:srgbClr val="F59E0B"/>
                </a:solidFill>
                <a:latin typeface="Calibri" pitchFamily="34" charset="0"/>
                <a:ea typeface="Calibri" pitchFamily="34" charset="-122"/>
                <a:cs typeface="Calibri" pitchFamily="34" charset="-120"/>
              </a:rPr>
              <a:t>Proof that Tier 2 is real, not a stub</a:t>
            </a:r>
            <a:endParaRPr lang="en-US" sz="1100" dirty="0"/>
          </a:p>
        </p:txBody>
      </p:sp>
      <p:sp>
        <p:nvSpPr>
          <p:cNvPr id="19" name="Text 16"/>
          <p:cNvSpPr txBox="1"/>
          <p:nvPr/>
        </p:nvSpPr>
        <p:spPr>
          <a:xfrm>
            <a:off x="1051560" y="5212080"/>
            <a:ext cx="7498080" cy="640080"/>
          </a:xfrm>
          <a:prstGeom prst="rect">
            <a:avLst/>
          </a:prstGeom>
          <a:noFill/>
          <a:ln/>
        </p:spPr>
        <p:txBody>
          <a:bodyPr wrap="square" lIns="0" tIns="0" rIns="0" bIns="0" rtlCol="0" anchor="ctr"/>
          <a:lstStyle/>
          <a:p>
            <a:pPr indent="0" marL="0">
              <a:lnSpc>
                <a:spcPts val="2000"/>
              </a:lnSpc>
              <a:buNone/>
            </a:pPr>
            <a:r>
              <a:rPr lang="en-US" sz="1400" dirty="0">
                <a:solidFill>
                  <a:srgbClr val="E2E8F0"/>
                </a:solidFill>
                <a:latin typeface="Calibri" pitchFamily="34" charset="0"/>
                <a:ea typeface="Calibri" pitchFamily="34" charset="-122"/>
                <a:cs typeface="Calibri" pitchFamily="34" charset="-120"/>
              </a:rPr>
              <a:t>Tick a medication. Ask the same question again. The answer changes — because it is computed from the record, not retrieved from a script.</a:t>
            </a:r>
            <a:endParaRPr lang="en-US" sz="1400" dirty="0"/>
          </a:p>
        </p:txBody>
      </p:sp>
      <p:sp>
        <p:nvSpPr>
          <p:cNvPr id="20" name="Text 17"/>
          <p:cNvSpPr txBox="1"/>
          <p:nvPr/>
        </p:nvSpPr>
        <p:spPr>
          <a:xfrm>
            <a:off x="8869680" y="4937760"/>
            <a:ext cx="1005840" cy="640080"/>
          </a:xfrm>
          <a:prstGeom prst="rect">
            <a:avLst/>
          </a:prstGeom>
          <a:noFill/>
          <a:ln/>
        </p:spPr>
        <p:txBody>
          <a:bodyPr wrap="square" lIns="0" tIns="0" rIns="0" bIns="0" rtlCol="0" anchor="ctr"/>
          <a:lstStyle/>
          <a:p>
            <a:pPr algn="r" indent="0" marL="0">
              <a:buNone/>
            </a:pPr>
            <a:r>
              <a:rPr lang="en-US" sz="4000" b="1" dirty="0">
                <a:solidFill>
                  <a:srgbClr val="14B8A6"/>
                </a:solidFill>
                <a:latin typeface="Arial" pitchFamily="34" charset="0"/>
                <a:ea typeface="Arial" pitchFamily="34" charset="-122"/>
                <a:cs typeface="Arial" pitchFamily="34" charset="-120"/>
              </a:rPr>
              <a:t>80</a:t>
            </a:r>
            <a:endParaRPr lang="en-US" sz="4000" dirty="0"/>
          </a:p>
        </p:txBody>
      </p:sp>
      <p:sp>
        <p:nvSpPr>
          <p:cNvPr id="21" name="Text 18"/>
          <p:cNvSpPr txBox="1"/>
          <p:nvPr/>
        </p:nvSpPr>
        <p:spPr>
          <a:xfrm>
            <a:off x="9966960" y="5029200"/>
            <a:ext cx="1417320" cy="548640"/>
          </a:xfrm>
          <a:prstGeom prst="rect">
            <a:avLst/>
          </a:prstGeom>
          <a:noFill/>
          <a:ln/>
        </p:spPr>
        <p:txBody>
          <a:bodyPr wrap="square" lIns="0" tIns="0" rIns="0" bIns="0" rtlCol="0" anchor="ctr"/>
          <a:lstStyle/>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tests across</a:t>
            </a:r>
            <a:endParaRPr lang="en-US" sz="1100" dirty="0"/>
          </a:p>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9 intent branches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85800" y="256032"/>
            <a:ext cx="10789920" cy="274320"/>
          </a:xfrm>
          <a:prstGeom prst="rect">
            <a:avLst/>
          </a:prstGeom>
          <a:noFill/>
          <a:ln/>
        </p:spPr>
        <p:txBody>
          <a:bodyPr wrap="square" lIns="0" tIns="0" rIns="0" bIns="0" rtlCol="0" anchor="ctr"/>
          <a:lstStyle/>
          <a:p>
            <a:pPr indent="0" marL="0">
              <a:buNone/>
            </a:pPr>
            <a:r>
              <a:rPr lang="en-US" sz="1150" b="1" spc="200" kern="0" dirty="0">
                <a:solidFill>
                  <a:srgbClr val="14B8A6"/>
                </a:solidFill>
                <a:latin typeface="Calibri" pitchFamily="34" charset="0"/>
                <a:ea typeface="Calibri" pitchFamily="34" charset="-122"/>
                <a:cs typeface="Calibri" pitchFamily="34" charset="-120"/>
              </a:rPr>
              <a:t>RESPONSIBLE AI</a:t>
            </a:r>
            <a:endParaRPr lang="en-US" sz="1150" dirty="0"/>
          </a:p>
        </p:txBody>
      </p:sp>
      <p:sp>
        <p:nvSpPr>
          <p:cNvPr id="4" name="Text 1"/>
          <p:cNvSpPr txBox="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rgbClr val="0B1120"/>
                </a:solidFill>
                <a:latin typeface="Arial" pitchFamily="34" charset="0"/>
                <a:ea typeface="Arial" pitchFamily="34" charset="-122"/>
                <a:cs typeface="Arial" pitchFamily="34" charset="-120"/>
              </a:rPr>
              <a:t>The most important thing it does is refuse</a:t>
            </a:r>
            <a:endParaRPr lang="en-US" sz="3200" dirty="0"/>
          </a:p>
        </p:txBody>
      </p:sp>
      <p:pic>
        <p:nvPicPr>
          <p:cNvPr id="5" name="Image 0" descr="img/s-bob.jpg">    </p:cNvPr>
          <p:cNvPicPr>
            <a:picLocks noChangeAspect="1"/>
          </p:cNvPicPr>
          <p:nvPr/>
        </p:nvPicPr>
        <p:blipFill>
          <a:blip r:embed="rId2"/>
          <a:stretch>
            <a:fillRect/>
          </a:stretch>
        </p:blipFill>
        <p:spPr>
          <a:xfrm>
            <a:off x="685800" y="1463040"/>
            <a:ext cx="4709160" cy="4663440"/>
          </a:xfrm>
          <a:prstGeom prst="rect">
            <a:avLst/>
          </a:prstGeom>
          <a:effectLst>
            <a:outerShdw sx="100000" sy="100000" kx="0" ky="0" algn="bl" rotWithShape="0" blurRad="228600" dist="50800" dir="5400000">
              <a:srgbClr val="000000">
                <a:alpha val="18000"/>
              </a:srgbClr>
            </a:outerShdw>
          </a:effectLst>
        </p:spPr>
      </p:pic>
      <p:sp>
        <p:nvSpPr>
          <p:cNvPr id="6" name="Shape 2"/>
          <p:cNvSpPr/>
          <p:nvPr/>
        </p:nvSpPr>
        <p:spPr>
          <a:xfrm>
            <a:off x="5806440" y="1581912"/>
            <a:ext cx="384048" cy="384048"/>
          </a:xfrm>
          <a:prstGeom prst="ellipse">
            <a:avLst/>
          </a:prstGeom>
          <a:solidFill>
            <a:srgbClr val="14B8A6"/>
          </a:solidFill>
          <a:ln/>
        </p:spPr>
      </p:sp>
      <p:sp>
        <p:nvSpPr>
          <p:cNvPr id="7" name="Text 3"/>
          <p:cNvSpPr txBox="1"/>
          <p:nvPr/>
        </p:nvSpPr>
        <p:spPr>
          <a:xfrm>
            <a:off x="5806440" y="1581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8" name="Text 4"/>
          <p:cNvSpPr txBox="1"/>
          <p:nvPr/>
        </p:nvSpPr>
        <p:spPr>
          <a:xfrm>
            <a:off x="6355080" y="1536192"/>
            <a:ext cx="5120640" cy="292608"/>
          </a:xfrm>
          <a:prstGeom prst="rect">
            <a:avLst/>
          </a:prstGeom>
          <a:noFill/>
          <a:ln/>
        </p:spPr>
        <p:txBody>
          <a:bodyPr wrap="square" lIns="0" tIns="0" rIns="0" bIns="0" rtlCol="0" anchor="ctr"/>
          <a:lstStyle/>
          <a:p>
            <a:pPr indent="0" marL="0">
              <a:buNone/>
            </a:pPr>
            <a:r>
              <a:rPr lang="en-US" sz="1450" b="1" dirty="0">
                <a:solidFill>
                  <a:srgbClr val="0B1120"/>
                </a:solidFill>
                <a:latin typeface="Arial" pitchFamily="34" charset="0"/>
                <a:ea typeface="Arial" pitchFamily="34" charset="-122"/>
                <a:cs typeface="Arial" pitchFamily="34" charset="-120"/>
              </a:rPr>
              <a:t>It knows the limit of its own knowledge</a:t>
            </a:r>
            <a:endParaRPr lang="en-US" sz="1450" dirty="0"/>
          </a:p>
        </p:txBody>
      </p:sp>
      <p:sp>
        <p:nvSpPr>
          <p:cNvPr id="9" name="Text 5"/>
          <p:cNvSpPr txBox="1"/>
          <p:nvPr/>
        </p:nvSpPr>
        <p:spPr>
          <a:xfrm>
            <a:off x="6355080" y="1865376"/>
            <a:ext cx="5120640" cy="777240"/>
          </a:xfrm>
          <a:prstGeom prst="rect">
            <a:avLst/>
          </a:prstGeom>
          <a:noFill/>
          <a:ln/>
        </p:spPr>
        <p:txBody>
          <a:bodyPr wrap="square" lIns="0" tIns="0" rIns="0" bIns="0" rtlCol="0" anchor="t"/>
          <a:lstStyle/>
          <a:p>
            <a:pPr algn="l" indent="0" marL="0">
              <a:lnSpc>
                <a:spcPts val="1700"/>
              </a:lnSpc>
              <a:buNone/>
            </a:pPr>
            <a:r>
              <a:rPr lang="en-US" sz="1250" dirty="0">
                <a:solidFill>
                  <a:srgbClr val="475569"/>
                </a:solidFill>
                <a:latin typeface="Calibri" pitchFamily="34" charset="0"/>
                <a:ea typeface="Calibri" pitchFamily="34" charset="-122"/>
                <a:cs typeface="Calibri" pitchFamily="34" charset="-120"/>
              </a:rPr>
              <a:t>Documents are catalogued by name, type, size and date. The text inside a PDF is not read — and IBM Bob says so rather than producing a plausible number.</a:t>
            </a:r>
            <a:endParaRPr lang="en-US" sz="1250" dirty="0"/>
          </a:p>
        </p:txBody>
      </p:sp>
      <p:sp>
        <p:nvSpPr>
          <p:cNvPr id="10" name="Shape 6"/>
          <p:cNvSpPr/>
          <p:nvPr/>
        </p:nvSpPr>
        <p:spPr>
          <a:xfrm>
            <a:off x="5806440" y="2752344"/>
            <a:ext cx="384048" cy="384048"/>
          </a:xfrm>
          <a:prstGeom prst="ellipse">
            <a:avLst/>
          </a:prstGeom>
          <a:solidFill>
            <a:srgbClr val="3B82F6"/>
          </a:solidFill>
          <a:ln/>
        </p:spPr>
      </p:sp>
      <p:sp>
        <p:nvSpPr>
          <p:cNvPr id="11" name="Text 7"/>
          <p:cNvSpPr txBox="1"/>
          <p:nvPr/>
        </p:nvSpPr>
        <p:spPr>
          <a:xfrm>
            <a:off x="5806440" y="27523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2" name="Text 8"/>
          <p:cNvSpPr txBox="1"/>
          <p:nvPr/>
        </p:nvSpPr>
        <p:spPr>
          <a:xfrm>
            <a:off x="6355080" y="2706624"/>
            <a:ext cx="5120640" cy="292608"/>
          </a:xfrm>
          <a:prstGeom prst="rect">
            <a:avLst/>
          </a:prstGeom>
          <a:noFill/>
          <a:ln/>
        </p:spPr>
        <p:txBody>
          <a:bodyPr wrap="square" lIns="0" tIns="0" rIns="0" bIns="0" rtlCol="0" anchor="ctr"/>
          <a:lstStyle/>
          <a:p>
            <a:pPr indent="0" marL="0">
              <a:buNone/>
            </a:pPr>
            <a:r>
              <a:rPr lang="en-US" sz="1450" b="1" dirty="0">
                <a:solidFill>
                  <a:srgbClr val="0B1120"/>
                </a:solidFill>
                <a:latin typeface="Arial" pitchFamily="34" charset="0"/>
                <a:ea typeface="Arial" pitchFamily="34" charset="-122"/>
                <a:cs typeface="Arial" pitchFamily="34" charset="-120"/>
              </a:rPr>
              <a:t>The rule is enforced twice</a:t>
            </a:r>
            <a:endParaRPr lang="en-US" sz="1450" dirty="0"/>
          </a:p>
        </p:txBody>
      </p:sp>
      <p:sp>
        <p:nvSpPr>
          <p:cNvPr id="13" name="Text 9"/>
          <p:cNvSpPr txBox="1"/>
          <p:nvPr/>
        </p:nvSpPr>
        <p:spPr>
          <a:xfrm>
            <a:off x="6355080" y="3035808"/>
            <a:ext cx="5120640" cy="777240"/>
          </a:xfrm>
          <a:prstGeom prst="rect">
            <a:avLst/>
          </a:prstGeom>
          <a:noFill/>
          <a:ln/>
        </p:spPr>
        <p:txBody>
          <a:bodyPr wrap="square" lIns="0" tIns="0" rIns="0" bIns="0" rtlCol="0" anchor="t"/>
          <a:lstStyle/>
          <a:p>
            <a:pPr algn="l" indent="0" marL="0">
              <a:lnSpc>
                <a:spcPts val="1700"/>
              </a:lnSpc>
              <a:buNone/>
            </a:pPr>
            <a:r>
              <a:rPr lang="en-US" sz="1250" dirty="0">
                <a:solidFill>
                  <a:srgbClr val="475569"/>
                </a:solidFill>
                <a:latin typeface="Calibri" pitchFamily="34" charset="0"/>
                <a:ea typeface="Calibri" pitchFamily="34" charset="-122"/>
                <a:cs typeface="Calibri" pitchFamily="34" charset="-120"/>
              </a:rPr>
              <a:t>Rule 3a constrains the watsonx model, and a dedicated branch enforces the same behaviour in the offline engine. Both tiers answer identically.</a:t>
            </a:r>
            <a:endParaRPr lang="en-US" sz="1250" dirty="0"/>
          </a:p>
        </p:txBody>
      </p:sp>
      <p:sp>
        <p:nvSpPr>
          <p:cNvPr id="14" name="Shape 10"/>
          <p:cNvSpPr/>
          <p:nvPr/>
        </p:nvSpPr>
        <p:spPr>
          <a:xfrm>
            <a:off x="5806440" y="3922776"/>
            <a:ext cx="384048" cy="384048"/>
          </a:xfrm>
          <a:prstGeom prst="ellipse">
            <a:avLst/>
          </a:prstGeom>
          <a:solidFill>
            <a:srgbClr val="8B5CF6"/>
          </a:solidFill>
          <a:ln/>
        </p:spPr>
      </p:sp>
      <p:sp>
        <p:nvSpPr>
          <p:cNvPr id="15" name="Text 11"/>
          <p:cNvSpPr txBox="1"/>
          <p:nvPr/>
        </p:nvSpPr>
        <p:spPr>
          <a:xfrm>
            <a:off x="5806440" y="39227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6" name="Text 12"/>
          <p:cNvSpPr txBox="1"/>
          <p:nvPr/>
        </p:nvSpPr>
        <p:spPr>
          <a:xfrm>
            <a:off x="6355080" y="3877056"/>
            <a:ext cx="5120640" cy="292608"/>
          </a:xfrm>
          <a:prstGeom prst="rect">
            <a:avLst/>
          </a:prstGeom>
          <a:noFill/>
          <a:ln/>
        </p:spPr>
        <p:txBody>
          <a:bodyPr wrap="square" lIns="0" tIns="0" rIns="0" bIns="0" rtlCol="0" anchor="ctr"/>
          <a:lstStyle/>
          <a:p>
            <a:pPr indent="0" marL="0">
              <a:buNone/>
            </a:pPr>
            <a:r>
              <a:rPr lang="en-US" sz="1450" b="1" dirty="0">
                <a:solidFill>
                  <a:srgbClr val="0B1120"/>
                </a:solidFill>
                <a:latin typeface="Arial" pitchFamily="34" charset="0"/>
                <a:ea typeface="Arial" pitchFamily="34" charset="-122"/>
                <a:cs typeface="Arial" pitchFamily="34" charset="-120"/>
              </a:rPr>
              <a:t>Never diagnoses, never prescribes</a:t>
            </a:r>
            <a:endParaRPr lang="en-US" sz="1450" dirty="0"/>
          </a:p>
        </p:txBody>
      </p:sp>
      <p:sp>
        <p:nvSpPr>
          <p:cNvPr id="17" name="Text 13"/>
          <p:cNvSpPr txBox="1"/>
          <p:nvPr/>
        </p:nvSpPr>
        <p:spPr>
          <a:xfrm>
            <a:off x="6355080" y="4206240"/>
            <a:ext cx="5120640" cy="777240"/>
          </a:xfrm>
          <a:prstGeom prst="rect">
            <a:avLst/>
          </a:prstGeom>
          <a:noFill/>
          <a:ln/>
        </p:spPr>
        <p:txBody>
          <a:bodyPr wrap="square" lIns="0" tIns="0" rIns="0" bIns="0" rtlCol="0" anchor="t"/>
          <a:lstStyle/>
          <a:p>
            <a:pPr algn="l" indent="0" marL="0">
              <a:lnSpc>
                <a:spcPts val="1700"/>
              </a:lnSpc>
              <a:buNone/>
            </a:pPr>
            <a:r>
              <a:rPr lang="en-US" sz="1250" dirty="0">
                <a:solidFill>
                  <a:srgbClr val="475569"/>
                </a:solidFill>
                <a:latin typeface="Calibri" pitchFamily="34" charset="0"/>
                <a:ea typeface="Calibri" pitchFamily="34" charset="-122"/>
                <a:cs typeface="Calibri" pitchFamily="34" charset="-120"/>
              </a:rPr>
              <a:t>Both engines defer clinical judgement to the named clinician, and neither will advise starting, stopping or changing a medication.</a:t>
            </a:r>
            <a:endParaRPr lang="en-US" sz="1250" dirty="0"/>
          </a:p>
        </p:txBody>
      </p:sp>
      <p:sp>
        <p:nvSpPr>
          <p:cNvPr id="18" name="Shape 14"/>
          <p:cNvSpPr/>
          <p:nvPr/>
        </p:nvSpPr>
        <p:spPr>
          <a:xfrm>
            <a:off x="5806440" y="5093208"/>
            <a:ext cx="384048" cy="384048"/>
          </a:xfrm>
          <a:prstGeom prst="ellipse">
            <a:avLst/>
          </a:prstGeom>
          <a:solidFill>
            <a:srgbClr val="F59E0B"/>
          </a:solidFill>
          <a:ln/>
        </p:spPr>
      </p:sp>
      <p:sp>
        <p:nvSpPr>
          <p:cNvPr id="19" name="Text 15"/>
          <p:cNvSpPr txBox="1"/>
          <p:nvPr/>
        </p:nvSpPr>
        <p:spPr>
          <a:xfrm>
            <a:off x="5806440" y="50932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0" name="Text 16"/>
          <p:cNvSpPr txBox="1"/>
          <p:nvPr/>
        </p:nvSpPr>
        <p:spPr>
          <a:xfrm>
            <a:off x="6355080" y="5047488"/>
            <a:ext cx="5120640" cy="292608"/>
          </a:xfrm>
          <a:prstGeom prst="rect">
            <a:avLst/>
          </a:prstGeom>
          <a:noFill/>
          <a:ln/>
        </p:spPr>
        <p:txBody>
          <a:bodyPr wrap="square" lIns="0" tIns="0" rIns="0" bIns="0" rtlCol="0" anchor="ctr"/>
          <a:lstStyle/>
          <a:p>
            <a:pPr indent="0" marL="0">
              <a:buNone/>
            </a:pPr>
            <a:r>
              <a:rPr lang="en-US" sz="1450" b="1" dirty="0">
                <a:solidFill>
                  <a:srgbClr val="0B1120"/>
                </a:solidFill>
                <a:latin typeface="Arial" pitchFamily="34" charset="0"/>
                <a:ea typeface="Arial" pitchFamily="34" charset="-122"/>
                <a:cs typeface="Arial" pitchFamily="34" charset="-120"/>
              </a:rPr>
              <a:t>Every answer declares its source</a:t>
            </a:r>
            <a:endParaRPr lang="en-US" sz="1450" dirty="0"/>
          </a:p>
        </p:txBody>
      </p:sp>
      <p:sp>
        <p:nvSpPr>
          <p:cNvPr id="21" name="Text 17"/>
          <p:cNvSpPr txBox="1"/>
          <p:nvPr/>
        </p:nvSpPr>
        <p:spPr>
          <a:xfrm>
            <a:off x="6355080" y="5376672"/>
            <a:ext cx="5120640" cy="777240"/>
          </a:xfrm>
          <a:prstGeom prst="rect">
            <a:avLst/>
          </a:prstGeom>
          <a:noFill/>
          <a:ln/>
        </p:spPr>
        <p:txBody>
          <a:bodyPr wrap="square" lIns="0" tIns="0" rIns="0" bIns="0" rtlCol="0" anchor="t"/>
          <a:lstStyle/>
          <a:p>
            <a:pPr algn="l" indent="0" marL="0">
              <a:lnSpc>
                <a:spcPts val="1700"/>
              </a:lnSpc>
              <a:buNone/>
            </a:pPr>
            <a:r>
              <a:rPr lang="en-US" sz="1250" dirty="0">
                <a:solidFill>
                  <a:srgbClr val="475569"/>
                </a:solidFill>
                <a:latin typeface="Calibri" pitchFamily="34" charset="0"/>
                <a:ea typeface="Calibri" pitchFamily="34" charset="-122"/>
                <a:cs typeface="Calibri" pitchFamily="34" charset="-120"/>
              </a:rPr>
              <a:t>Each response reports which engine spoke and how many records it was grounded on. The degraded mode is published, not hidden.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85800" y="256032"/>
            <a:ext cx="10789920" cy="274320"/>
          </a:xfrm>
          <a:prstGeom prst="rect">
            <a:avLst/>
          </a:prstGeom>
          <a:noFill/>
          <a:ln/>
        </p:spPr>
        <p:txBody>
          <a:bodyPr wrap="square" lIns="0" tIns="0" rIns="0" bIns="0" rtlCol="0" anchor="ctr"/>
          <a:lstStyle/>
          <a:p>
            <a:pPr indent="0" marL="0">
              <a:buNone/>
            </a:pPr>
            <a:r>
              <a:rPr lang="en-US" sz="1150" b="1" spc="200" kern="0" dirty="0">
                <a:solidFill>
                  <a:srgbClr val="3B82F6"/>
                </a:solidFill>
                <a:latin typeface="Calibri" pitchFamily="34" charset="0"/>
                <a:ea typeface="Calibri" pitchFamily="34" charset="-122"/>
                <a:cs typeface="Calibri" pitchFamily="34" charset="-120"/>
              </a:rPr>
              <a:t>IT ACTUALLY WORKS</a:t>
            </a:r>
            <a:endParaRPr lang="en-US" sz="1150" dirty="0"/>
          </a:p>
        </p:txBody>
      </p:sp>
      <p:sp>
        <p:nvSpPr>
          <p:cNvPr id="4" name="Text 1"/>
          <p:cNvSpPr txBox="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rgbClr val="0B1120"/>
                </a:solidFill>
                <a:latin typeface="Arial" pitchFamily="34" charset="0"/>
                <a:ea typeface="Arial" pitchFamily="34" charset="-122"/>
                <a:cs typeface="Arial" pitchFamily="34" charset="-120"/>
              </a:rPr>
              <a:t>Upload once — it lands everywhere it should</a:t>
            </a:r>
            <a:endParaRPr lang="en-US" sz="3200" dirty="0"/>
          </a:p>
        </p:txBody>
      </p:sp>
      <p:sp>
        <p:nvSpPr>
          <p:cNvPr id="5" name="Shape 2"/>
          <p:cNvSpPr/>
          <p:nvPr/>
        </p:nvSpPr>
        <p:spPr>
          <a:xfrm>
            <a:off x="685800" y="1554480"/>
            <a:ext cx="2514600" cy="2103120"/>
          </a:xfrm>
          <a:prstGeom prst="roundRect">
            <a:avLst>
              <a:gd name="adj" fmla="val 6957"/>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6" name="Shape 3"/>
          <p:cNvSpPr/>
          <p:nvPr/>
        </p:nvSpPr>
        <p:spPr>
          <a:xfrm>
            <a:off x="960120" y="1828800"/>
            <a:ext cx="548640" cy="548640"/>
          </a:xfrm>
          <a:prstGeom prst="ellipse">
            <a:avLst/>
          </a:prstGeom>
          <a:solidFill>
            <a:srgbClr val="3B82F6"/>
          </a:solidFill>
          <a:ln/>
        </p:spPr>
      </p:sp>
      <p:sp>
        <p:nvSpPr>
          <p:cNvPr id="7" name="Text 4"/>
          <p:cNvSpPr txBox="1"/>
          <p:nvPr/>
        </p:nvSpPr>
        <p:spPr>
          <a:xfrm>
            <a:off x="960120" y="18288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960120" y="2487168"/>
            <a:ext cx="2011680" cy="292608"/>
          </a:xfrm>
          <a:prstGeom prst="rect">
            <a:avLst/>
          </a:prstGeom>
          <a:noFill/>
          <a:ln/>
        </p:spPr>
        <p:txBody>
          <a:bodyPr wrap="square" lIns="0" tIns="0" rIns="0" bIns="0" rtlCol="0" anchor="ctr"/>
          <a:lstStyle/>
          <a:p>
            <a:pPr indent="0" marL="0">
              <a:buNone/>
            </a:pPr>
            <a:r>
              <a:rPr lang="en-US" sz="1550" b="1" dirty="0">
                <a:solidFill>
                  <a:srgbClr val="0B1120"/>
                </a:solidFill>
                <a:latin typeface="Arial" pitchFamily="34" charset="0"/>
                <a:ea typeface="Arial" pitchFamily="34" charset="-122"/>
                <a:cs typeface="Arial" pitchFamily="34" charset="-120"/>
              </a:rPr>
              <a:t>Upload</a:t>
            </a:r>
            <a:endParaRPr lang="en-US" sz="1550" dirty="0"/>
          </a:p>
        </p:txBody>
      </p:sp>
      <p:sp>
        <p:nvSpPr>
          <p:cNvPr id="9" name="Text 6"/>
          <p:cNvSpPr txBox="1"/>
          <p:nvPr/>
        </p:nvSpPr>
        <p:spPr>
          <a:xfrm>
            <a:off x="960120" y="2834640"/>
            <a:ext cx="1965960" cy="731520"/>
          </a:xfrm>
          <a:prstGeom prst="rect">
            <a:avLst/>
          </a:prstGeom>
          <a:noFill/>
          <a:ln/>
        </p:spPr>
        <p:txBody>
          <a:bodyPr wrap="square" lIns="0" tIns="0" rIns="0" bIns="0" rtlCol="0" anchor="t"/>
          <a:lstStyle/>
          <a:p>
            <a:pPr algn="l" indent="0" marL="0">
              <a:lnSpc>
                <a:spcPts val="1600"/>
              </a:lnSpc>
              <a:buNone/>
            </a:pPr>
            <a:r>
              <a:rPr lang="en-US" sz="1150" dirty="0">
                <a:solidFill>
                  <a:srgbClr val="475569"/>
                </a:solidFill>
                <a:latin typeface="Calibri" pitchFamily="34" charset="0"/>
                <a:ea typeface="Calibri" pitchFamily="34" charset="-122"/>
                <a:cs typeface="Calibri" pitchFamily="34" charset="-120"/>
              </a:rPr>
              <a:t>Pick a PDF or scan. Five validation gates run before a single byte reaches disk.</a:t>
            </a:r>
            <a:endParaRPr lang="en-US" sz="1150" dirty="0"/>
          </a:p>
        </p:txBody>
      </p:sp>
      <p:sp>
        <p:nvSpPr>
          <p:cNvPr id="10" name="Shape 7"/>
          <p:cNvSpPr/>
          <p:nvPr/>
        </p:nvSpPr>
        <p:spPr>
          <a:xfrm>
            <a:off x="3264408" y="2560320"/>
            <a:ext cx="146304" cy="201168"/>
          </a:xfrm>
          <a:prstGeom prst="rightArrow">
            <a:avLst/>
          </a:prstGeom>
          <a:solidFill>
            <a:srgbClr val="CBD5E1"/>
          </a:solidFill>
          <a:ln/>
        </p:spPr>
      </p:sp>
      <p:sp>
        <p:nvSpPr>
          <p:cNvPr id="11" name="Shape 8"/>
          <p:cNvSpPr/>
          <p:nvPr/>
        </p:nvSpPr>
        <p:spPr>
          <a:xfrm>
            <a:off x="3447288" y="1554480"/>
            <a:ext cx="2514600" cy="2103120"/>
          </a:xfrm>
          <a:prstGeom prst="roundRect">
            <a:avLst>
              <a:gd name="adj" fmla="val 6957"/>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12" name="Shape 9"/>
          <p:cNvSpPr/>
          <p:nvPr/>
        </p:nvSpPr>
        <p:spPr>
          <a:xfrm>
            <a:off x="3721608" y="1828800"/>
            <a:ext cx="548640" cy="548640"/>
          </a:xfrm>
          <a:prstGeom prst="ellipse">
            <a:avLst/>
          </a:prstGeom>
          <a:solidFill>
            <a:srgbClr val="8B5CF6"/>
          </a:solidFill>
          <a:ln/>
        </p:spPr>
      </p:sp>
      <p:sp>
        <p:nvSpPr>
          <p:cNvPr id="13" name="Text 10"/>
          <p:cNvSpPr txBox="1"/>
          <p:nvPr/>
        </p:nvSpPr>
        <p:spPr>
          <a:xfrm>
            <a:off x="3721608" y="18288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1"/>
          <p:cNvSpPr txBox="1"/>
          <p:nvPr/>
        </p:nvSpPr>
        <p:spPr>
          <a:xfrm>
            <a:off x="3721608" y="2487168"/>
            <a:ext cx="2011680" cy="292608"/>
          </a:xfrm>
          <a:prstGeom prst="rect">
            <a:avLst/>
          </a:prstGeom>
          <a:noFill/>
          <a:ln/>
        </p:spPr>
        <p:txBody>
          <a:bodyPr wrap="square" lIns="0" tIns="0" rIns="0" bIns="0" rtlCol="0" anchor="ctr"/>
          <a:lstStyle/>
          <a:p>
            <a:pPr indent="0" marL="0">
              <a:buNone/>
            </a:pPr>
            <a:r>
              <a:rPr lang="en-US" sz="1550" b="1" dirty="0">
                <a:solidFill>
                  <a:srgbClr val="0B1120"/>
                </a:solidFill>
                <a:latin typeface="Arial" pitchFamily="34" charset="0"/>
                <a:ea typeface="Arial" pitchFamily="34" charset="-122"/>
                <a:cs typeface="Arial" pitchFamily="34" charset="-120"/>
              </a:rPr>
              <a:t>It appears twice</a:t>
            </a:r>
            <a:endParaRPr lang="en-US" sz="1550" dirty="0"/>
          </a:p>
        </p:txBody>
      </p:sp>
      <p:sp>
        <p:nvSpPr>
          <p:cNvPr id="15" name="Text 12"/>
          <p:cNvSpPr txBox="1"/>
          <p:nvPr/>
        </p:nvSpPr>
        <p:spPr>
          <a:xfrm>
            <a:off x="3721608" y="2834640"/>
            <a:ext cx="1965960" cy="731520"/>
          </a:xfrm>
          <a:prstGeom prst="rect">
            <a:avLst/>
          </a:prstGeom>
          <a:noFill/>
          <a:ln/>
        </p:spPr>
        <p:txBody>
          <a:bodyPr wrap="square" lIns="0" tIns="0" rIns="0" bIns="0" rtlCol="0" anchor="t"/>
          <a:lstStyle/>
          <a:p>
            <a:pPr algn="l" indent="0" marL="0">
              <a:lnSpc>
                <a:spcPts val="1600"/>
              </a:lnSpc>
              <a:buNone/>
            </a:pPr>
            <a:r>
              <a:rPr lang="en-US" sz="1150" dirty="0">
                <a:solidFill>
                  <a:srgbClr val="475569"/>
                </a:solidFill>
                <a:latin typeface="Calibri" pitchFamily="34" charset="0"/>
                <a:ea typeface="Calibri" pitchFamily="34" charset="-122"/>
                <a:cs typeface="Calibri" pitchFamily="34" charset="-120"/>
              </a:rPr>
              <a:t>Catalogued into Recent Documents and inserted at the top of the Journey Timeline.</a:t>
            </a:r>
            <a:endParaRPr lang="en-US" sz="1150" dirty="0"/>
          </a:p>
        </p:txBody>
      </p:sp>
      <p:sp>
        <p:nvSpPr>
          <p:cNvPr id="16" name="Shape 13"/>
          <p:cNvSpPr/>
          <p:nvPr/>
        </p:nvSpPr>
        <p:spPr>
          <a:xfrm>
            <a:off x="6025896" y="2560320"/>
            <a:ext cx="146304" cy="201168"/>
          </a:xfrm>
          <a:prstGeom prst="rightArrow">
            <a:avLst/>
          </a:prstGeom>
          <a:solidFill>
            <a:srgbClr val="CBD5E1"/>
          </a:solidFill>
          <a:ln/>
        </p:spPr>
      </p:sp>
      <p:sp>
        <p:nvSpPr>
          <p:cNvPr id="17" name="Shape 14"/>
          <p:cNvSpPr/>
          <p:nvPr/>
        </p:nvSpPr>
        <p:spPr>
          <a:xfrm>
            <a:off x="6208776" y="1554480"/>
            <a:ext cx="2514600" cy="2103120"/>
          </a:xfrm>
          <a:prstGeom prst="roundRect">
            <a:avLst>
              <a:gd name="adj" fmla="val 6957"/>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18" name="Shape 15"/>
          <p:cNvSpPr/>
          <p:nvPr/>
        </p:nvSpPr>
        <p:spPr>
          <a:xfrm>
            <a:off x="6483096" y="1828800"/>
            <a:ext cx="548640" cy="548640"/>
          </a:xfrm>
          <a:prstGeom prst="ellipse">
            <a:avLst/>
          </a:prstGeom>
          <a:solidFill>
            <a:srgbClr val="14B8A6"/>
          </a:solidFill>
          <a:ln/>
        </p:spPr>
      </p:sp>
      <p:sp>
        <p:nvSpPr>
          <p:cNvPr id="19" name="Text 16"/>
          <p:cNvSpPr txBox="1"/>
          <p:nvPr/>
        </p:nvSpPr>
        <p:spPr>
          <a:xfrm>
            <a:off x="6483096" y="18288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txBox="1"/>
          <p:nvPr/>
        </p:nvSpPr>
        <p:spPr>
          <a:xfrm>
            <a:off x="6483096" y="2487168"/>
            <a:ext cx="2011680" cy="292608"/>
          </a:xfrm>
          <a:prstGeom prst="rect">
            <a:avLst/>
          </a:prstGeom>
          <a:noFill/>
          <a:ln/>
        </p:spPr>
        <p:txBody>
          <a:bodyPr wrap="square" lIns="0" tIns="0" rIns="0" bIns="0" rtlCol="0" anchor="ctr"/>
          <a:lstStyle/>
          <a:p>
            <a:pPr indent="0" marL="0">
              <a:buNone/>
            </a:pPr>
            <a:r>
              <a:rPr lang="en-US" sz="1550" b="1" dirty="0">
                <a:solidFill>
                  <a:srgbClr val="0B1120"/>
                </a:solidFill>
                <a:latin typeface="Arial" pitchFamily="34" charset="0"/>
                <a:ea typeface="Arial" pitchFamily="34" charset="-122"/>
                <a:cs typeface="Arial" pitchFamily="34" charset="-120"/>
              </a:rPr>
              <a:t>Open it</a:t>
            </a:r>
            <a:endParaRPr lang="en-US" sz="1550" dirty="0"/>
          </a:p>
        </p:txBody>
      </p:sp>
      <p:sp>
        <p:nvSpPr>
          <p:cNvPr id="21" name="Text 18"/>
          <p:cNvSpPr txBox="1"/>
          <p:nvPr/>
        </p:nvSpPr>
        <p:spPr>
          <a:xfrm>
            <a:off x="6483096" y="2834640"/>
            <a:ext cx="1965960" cy="731520"/>
          </a:xfrm>
          <a:prstGeom prst="rect">
            <a:avLst/>
          </a:prstGeom>
          <a:noFill/>
          <a:ln/>
        </p:spPr>
        <p:txBody>
          <a:bodyPr wrap="square" lIns="0" tIns="0" rIns="0" bIns="0" rtlCol="0" anchor="t"/>
          <a:lstStyle/>
          <a:p>
            <a:pPr algn="l" indent="0" marL="0">
              <a:lnSpc>
                <a:spcPts val="1600"/>
              </a:lnSpc>
              <a:buNone/>
            </a:pPr>
            <a:r>
              <a:rPr lang="en-US" sz="1150" dirty="0">
                <a:solidFill>
                  <a:srgbClr val="475569"/>
                </a:solidFill>
                <a:latin typeface="Calibri" pitchFamily="34" charset="0"/>
                <a:ea typeface="Calibri" pitchFamily="34" charset="-122"/>
                <a:cs typeface="Calibri" pitchFamily="34" charset="-120"/>
              </a:rPr>
              <a:t>View serves the file through a controlled route that resolves the document id.</a:t>
            </a:r>
            <a:endParaRPr lang="en-US" sz="1150" dirty="0"/>
          </a:p>
        </p:txBody>
      </p:sp>
      <p:sp>
        <p:nvSpPr>
          <p:cNvPr id="22" name="Shape 19"/>
          <p:cNvSpPr/>
          <p:nvPr/>
        </p:nvSpPr>
        <p:spPr>
          <a:xfrm>
            <a:off x="8787384" y="2560320"/>
            <a:ext cx="146304" cy="201168"/>
          </a:xfrm>
          <a:prstGeom prst="rightArrow">
            <a:avLst/>
          </a:prstGeom>
          <a:solidFill>
            <a:srgbClr val="CBD5E1"/>
          </a:solidFill>
          <a:ln/>
        </p:spPr>
      </p:sp>
      <p:sp>
        <p:nvSpPr>
          <p:cNvPr id="23" name="Shape 20"/>
          <p:cNvSpPr/>
          <p:nvPr/>
        </p:nvSpPr>
        <p:spPr>
          <a:xfrm>
            <a:off x="8970264" y="1554480"/>
            <a:ext cx="2514600" cy="2103120"/>
          </a:xfrm>
          <a:prstGeom prst="roundRect">
            <a:avLst>
              <a:gd name="adj" fmla="val 6957"/>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24" name="Shape 21"/>
          <p:cNvSpPr/>
          <p:nvPr/>
        </p:nvSpPr>
        <p:spPr>
          <a:xfrm>
            <a:off x="9244584" y="1828800"/>
            <a:ext cx="548640" cy="548640"/>
          </a:xfrm>
          <a:prstGeom prst="ellipse">
            <a:avLst/>
          </a:prstGeom>
          <a:solidFill>
            <a:srgbClr val="F59E0B"/>
          </a:solidFill>
          <a:ln/>
        </p:spPr>
      </p:sp>
      <p:sp>
        <p:nvSpPr>
          <p:cNvPr id="25" name="Text 22"/>
          <p:cNvSpPr txBox="1"/>
          <p:nvPr/>
        </p:nvSpPr>
        <p:spPr>
          <a:xfrm>
            <a:off x="9244584" y="18288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6" name="Text 23"/>
          <p:cNvSpPr txBox="1"/>
          <p:nvPr/>
        </p:nvSpPr>
        <p:spPr>
          <a:xfrm>
            <a:off x="9244584" y="2487168"/>
            <a:ext cx="2011680" cy="292608"/>
          </a:xfrm>
          <a:prstGeom prst="rect">
            <a:avLst/>
          </a:prstGeom>
          <a:noFill/>
          <a:ln/>
        </p:spPr>
        <p:txBody>
          <a:bodyPr wrap="square" lIns="0" tIns="0" rIns="0" bIns="0" rtlCol="0" anchor="ctr"/>
          <a:lstStyle/>
          <a:p>
            <a:pPr indent="0" marL="0">
              <a:buNone/>
            </a:pPr>
            <a:r>
              <a:rPr lang="en-US" sz="1550" b="1" dirty="0">
                <a:solidFill>
                  <a:srgbClr val="0B1120"/>
                </a:solidFill>
                <a:latin typeface="Arial" pitchFamily="34" charset="0"/>
                <a:ea typeface="Arial" pitchFamily="34" charset="-122"/>
                <a:cs typeface="Arial" pitchFamily="34" charset="-120"/>
              </a:rPr>
              <a:t>It survives</a:t>
            </a:r>
            <a:endParaRPr lang="en-US" sz="1550" dirty="0"/>
          </a:p>
        </p:txBody>
      </p:sp>
      <p:sp>
        <p:nvSpPr>
          <p:cNvPr id="27" name="Text 24"/>
          <p:cNvSpPr txBox="1"/>
          <p:nvPr/>
        </p:nvSpPr>
        <p:spPr>
          <a:xfrm>
            <a:off x="9244584" y="2834640"/>
            <a:ext cx="1965960" cy="731520"/>
          </a:xfrm>
          <a:prstGeom prst="rect">
            <a:avLst/>
          </a:prstGeom>
          <a:noFill/>
          <a:ln/>
        </p:spPr>
        <p:txBody>
          <a:bodyPr wrap="square" lIns="0" tIns="0" rIns="0" bIns="0" rtlCol="0" anchor="t"/>
          <a:lstStyle/>
          <a:p>
            <a:pPr algn="l" indent="0" marL="0">
              <a:lnSpc>
                <a:spcPts val="1600"/>
              </a:lnSpc>
              <a:buNone/>
            </a:pPr>
            <a:r>
              <a:rPr lang="en-US" sz="1150" dirty="0">
                <a:solidFill>
                  <a:srgbClr val="475569"/>
                </a:solidFill>
                <a:latin typeface="Calibri" pitchFamily="34" charset="0"/>
                <a:ea typeface="Calibri" pitchFamily="34" charset="-122"/>
                <a:cs typeface="Calibri" pitchFamily="34" charset="-120"/>
              </a:rPr>
              <a:t>Restart the backend and reload. Everything is still there.</a:t>
            </a:r>
            <a:endParaRPr lang="en-US" sz="1150" dirty="0"/>
          </a:p>
        </p:txBody>
      </p:sp>
      <p:sp>
        <p:nvSpPr>
          <p:cNvPr id="28" name="Shape 25"/>
          <p:cNvSpPr/>
          <p:nvPr/>
        </p:nvSpPr>
        <p:spPr>
          <a:xfrm>
            <a:off x="685800" y="4069080"/>
            <a:ext cx="6766560" cy="2103120"/>
          </a:xfrm>
          <a:prstGeom prst="roundRect">
            <a:avLst>
              <a:gd name="adj" fmla="val 6957"/>
            </a:avLst>
          </a:prstGeom>
          <a:solidFill>
            <a:srgbClr val="0F172A"/>
          </a:solidFill>
          <a:ln w="12700">
            <a:solidFill>
              <a:srgbClr val="0F172A"/>
            </a:solidFill>
            <a:prstDash val="solid"/>
          </a:ln>
          <a:effectLst>
            <a:outerShdw sx="100000" sy="100000" kx="0" ky="0" algn="bl" rotWithShape="0" blurRad="228600" dist="50800" dir="5400000">
              <a:srgbClr val="000000">
                <a:alpha val="18000"/>
              </a:srgbClr>
            </a:outerShdw>
          </a:effectLst>
        </p:spPr>
      </p:sp>
      <p:sp>
        <p:nvSpPr>
          <p:cNvPr id="29" name="Text 26"/>
          <p:cNvSpPr txBox="1"/>
          <p:nvPr/>
        </p:nvSpPr>
        <p:spPr>
          <a:xfrm>
            <a:off x="1005840" y="4279392"/>
            <a:ext cx="4572000" cy="274320"/>
          </a:xfrm>
          <a:prstGeom prst="rect">
            <a:avLst/>
          </a:prstGeom>
          <a:noFill/>
          <a:ln/>
        </p:spPr>
        <p:txBody>
          <a:bodyPr wrap="square" lIns="0" tIns="0" rIns="0" bIns="0" rtlCol="0" anchor="ctr"/>
          <a:lstStyle/>
          <a:p>
            <a:pPr indent="0" marL="0">
              <a:buNone/>
            </a:pPr>
            <a:r>
              <a:rPr lang="en-US" sz="1100" b="1" spc="140" kern="0" dirty="0">
                <a:solidFill>
                  <a:srgbClr val="14B8A6"/>
                </a:solidFill>
                <a:latin typeface="Calibri" pitchFamily="34" charset="0"/>
                <a:ea typeface="Calibri" pitchFamily="34" charset="-122"/>
                <a:cs typeface="Calibri" pitchFamily="34" charset="-120"/>
              </a:rPr>
              <a:t>The persistence proof</a:t>
            </a:r>
            <a:endParaRPr lang="en-US" sz="1100" dirty="0"/>
          </a:p>
        </p:txBody>
      </p:sp>
      <p:sp>
        <p:nvSpPr>
          <p:cNvPr id="30" name="Text 27"/>
          <p:cNvSpPr txBox="1"/>
          <p:nvPr/>
        </p:nvSpPr>
        <p:spPr>
          <a:xfrm>
            <a:off x="1005840" y="4590288"/>
            <a:ext cx="6126480" cy="365760"/>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Upload a report. Stop the server with Ctrl+C. Start it again. Reload the page.</a:t>
            </a:r>
            <a:endParaRPr lang="en-US" sz="1550" dirty="0"/>
          </a:p>
        </p:txBody>
      </p:sp>
      <p:sp>
        <p:nvSpPr>
          <p:cNvPr id="31" name="Text 28"/>
          <p:cNvSpPr txBox="1"/>
          <p:nvPr/>
        </p:nvSpPr>
        <p:spPr>
          <a:xfrm>
            <a:off x="1005840" y="5029200"/>
            <a:ext cx="6126480" cy="914400"/>
          </a:xfrm>
          <a:prstGeom prst="rect">
            <a:avLst/>
          </a:prstGeom>
          <a:noFill/>
          <a:ln/>
        </p:spPr>
        <p:txBody>
          <a:bodyPr wrap="square" lIns="0" tIns="0" rIns="0" bIns="0" rtlCol="0" anchor="t"/>
          <a:lstStyle/>
          <a:p>
            <a:pPr algn="l" indent="0" marL="0">
              <a:lnSpc>
                <a:spcPts val="1800"/>
              </a:lnSpc>
              <a:buNone/>
            </a:pPr>
            <a:r>
              <a:rPr lang="en-US" sz="1250" dirty="0">
                <a:solidFill>
                  <a:srgbClr val="CBD5E1"/>
                </a:solidFill>
                <a:latin typeface="Calibri" pitchFamily="34" charset="0"/>
                <a:ea typeface="Calibri" pitchFamily="34" charset="-122"/>
                <a:cs typeface="Calibri" pitchFamily="34" charset="-120"/>
              </a:rPr>
              <a:t>The document, the timeline entry, the medications you ticked and the tasks you completed are all still there — written to disk atomically on every change, not held in memory.</a:t>
            </a:r>
            <a:endParaRPr lang="en-US" sz="1250" dirty="0"/>
          </a:p>
        </p:txBody>
      </p:sp>
      <p:pic>
        <p:nvPicPr>
          <p:cNvPr id="32" name="Image 0" descr="img/e-records.png">    </p:cNvPr>
          <p:cNvPicPr>
            <a:picLocks noChangeAspect="1"/>
          </p:cNvPicPr>
          <p:nvPr/>
        </p:nvPicPr>
        <p:blipFill>
          <a:blip r:embed="rId2"/>
          <a:stretch>
            <a:fillRect/>
          </a:stretch>
        </p:blipFill>
        <p:spPr>
          <a:xfrm>
            <a:off x="7863840" y="4069080"/>
            <a:ext cx="3611880" cy="2103120"/>
          </a:xfrm>
          <a:prstGeom prst="rect">
            <a:avLst/>
          </a:prstGeom>
          <a:effectLst>
            <a:outerShdw sx="100000" sy="100000" kx="0" ky="0" algn="bl" rotWithShape="0" blurRad="228600" dist="50800" dir="5400000">
              <a:srgbClr val="000000">
                <a:alpha val="18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85800" y="256032"/>
            <a:ext cx="10789920" cy="274320"/>
          </a:xfrm>
          <a:prstGeom prst="rect">
            <a:avLst/>
          </a:prstGeom>
          <a:noFill/>
          <a:ln/>
        </p:spPr>
        <p:txBody>
          <a:bodyPr wrap="square" lIns="0" tIns="0" rIns="0" bIns="0" rtlCol="0" anchor="ctr"/>
          <a:lstStyle/>
          <a:p>
            <a:pPr indent="0" marL="0">
              <a:buNone/>
            </a:pPr>
            <a:r>
              <a:rPr lang="en-US" sz="1150" b="1" spc="200" kern="0" dirty="0">
                <a:solidFill>
                  <a:srgbClr val="14B8A6"/>
                </a:solidFill>
                <a:latin typeface="Calibri" pitchFamily="34" charset="0"/>
                <a:ea typeface="Calibri" pitchFamily="34" charset="-122"/>
                <a:cs typeface="Calibri" pitchFamily="34" charset="-120"/>
              </a:rPr>
              <a:t>SECURITY</a:t>
            </a:r>
            <a:endParaRPr lang="en-US" sz="1150" dirty="0"/>
          </a:p>
        </p:txBody>
      </p:sp>
      <p:sp>
        <p:nvSpPr>
          <p:cNvPr id="4" name="Text 1"/>
          <p:cNvSpPr txBox="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Five gates before a byte touches the disk</a:t>
            </a:r>
            <a:endParaRPr lang="en-US" sz="3200" dirty="0"/>
          </a:p>
        </p:txBody>
      </p:sp>
      <p:sp>
        <p:nvSpPr>
          <p:cNvPr id="5" name="Shape 2"/>
          <p:cNvSpPr/>
          <p:nvPr/>
        </p:nvSpPr>
        <p:spPr>
          <a:xfrm>
            <a:off x="685800" y="1691640"/>
            <a:ext cx="1965960" cy="1920240"/>
          </a:xfrm>
          <a:prstGeom prst="roundRect">
            <a:avLst>
              <a:gd name="adj" fmla="val 7619"/>
            </a:avLst>
          </a:prstGeom>
          <a:solidFill>
            <a:srgbClr val="18213A"/>
          </a:solidFill>
          <a:ln w="12700">
            <a:solidFill>
              <a:srgbClr val="2E4270"/>
            </a:solidFill>
            <a:prstDash val="solid"/>
          </a:ln>
          <a:effectLst>
            <a:outerShdw sx="100000" sy="100000" kx="0" ky="0" algn="bl" rotWithShape="0" blurRad="228600" dist="50800" dir="5400000">
              <a:srgbClr val="000000">
                <a:alpha val="18000"/>
              </a:srgbClr>
            </a:outerShdw>
          </a:effectLst>
        </p:spPr>
      </p:sp>
      <p:sp>
        <p:nvSpPr>
          <p:cNvPr id="6" name="Shape 3"/>
          <p:cNvSpPr/>
          <p:nvPr/>
        </p:nvSpPr>
        <p:spPr>
          <a:xfrm>
            <a:off x="1399032" y="1965960"/>
            <a:ext cx="548640" cy="548640"/>
          </a:xfrm>
          <a:prstGeom prst="ellipse">
            <a:avLst/>
          </a:prstGeom>
          <a:solidFill>
            <a:srgbClr val="3B82F6"/>
          </a:solidFill>
          <a:ln/>
        </p:spPr>
      </p:sp>
      <p:sp>
        <p:nvSpPr>
          <p:cNvPr id="7" name="Text 4"/>
          <p:cNvSpPr txBox="1"/>
          <p:nvPr/>
        </p:nvSpPr>
        <p:spPr>
          <a:xfrm>
            <a:off x="1399032" y="196596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795528" y="2633472"/>
            <a:ext cx="1746504" cy="502920"/>
          </a:xfrm>
          <a:prstGeom prst="rect">
            <a:avLst/>
          </a:prstGeom>
          <a:noFill/>
          <a:ln/>
        </p:spPr>
        <p:txBody>
          <a:bodyPr wrap="square" lIns="0" tIns="0" rIns="0" bIns="0" rtlCol="0" anchor="ctr"/>
          <a:lstStyle/>
          <a:p>
            <a:pPr algn="ctr" indent="0" marL="0">
              <a:lnSpc>
                <a:spcPts val="1600"/>
              </a:lnSpc>
              <a:buNone/>
            </a:pPr>
            <a:r>
              <a:rPr lang="en-US" sz="1200" b="1" dirty="0">
                <a:solidFill>
                  <a:srgbClr val="FFFFFF"/>
                </a:solidFill>
                <a:latin typeface="Arial" pitchFamily="34" charset="0"/>
                <a:ea typeface="Arial" pitchFamily="34" charset="-122"/>
                <a:cs typeface="Arial" pitchFamily="34" charset="-120"/>
              </a:rPr>
              <a:t>Extension allowlist</a:t>
            </a:r>
            <a:endParaRPr lang="en-US" sz="1200" dirty="0"/>
          </a:p>
        </p:txBody>
      </p:sp>
      <p:sp>
        <p:nvSpPr>
          <p:cNvPr id="9" name="Text 6"/>
          <p:cNvSpPr txBox="1"/>
          <p:nvPr/>
        </p:nvSpPr>
        <p:spPr>
          <a:xfrm>
            <a:off x="868680" y="3154680"/>
            <a:ext cx="1600200" cy="411480"/>
          </a:xfrm>
          <a:prstGeom prst="rect">
            <a:avLst/>
          </a:prstGeom>
          <a:noFill/>
          <a:ln/>
        </p:spPr>
        <p:txBody>
          <a:bodyPr wrap="square" lIns="0" tIns="0" rIns="0" bIns="0" rtlCol="0" anchor="t"/>
          <a:lstStyle/>
          <a:p>
            <a:pPr algn="ctr" indent="0" marL="0">
              <a:lnSpc>
                <a:spcPts val="1400"/>
              </a:lnSpc>
              <a:buNone/>
            </a:pPr>
            <a:r>
              <a:rPr lang="en-US" sz="1050" dirty="0">
                <a:solidFill>
                  <a:srgbClr val="A9B6CC"/>
                </a:solidFill>
                <a:latin typeface="Calibri" pitchFamily="34" charset="0"/>
                <a:ea typeface="Calibri" pitchFamily="34" charset="-122"/>
                <a:cs typeface="Calibri" pitchFamily="34" charset="-120"/>
              </a:rPr>
              <a:t>PDF, PNG, JPEG only</a:t>
            </a:r>
            <a:endParaRPr lang="en-US" sz="1050" dirty="0"/>
          </a:p>
        </p:txBody>
      </p:sp>
      <p:sp>
        <p:nvSpPr>
          <p:cNvPr id="10" name="Shape 7"/>
          <p:cNvSpPr/>
          <p:nvPr/>
        </p:nvSpPr>
        <p:spPr>
          <a:xfrm>
            <a:off x="2898648" y="1691640"/>
            <a:ext cx="1965960" cy="1920240"/>
          </a:xfrm>
          <a:prstGeom prst="roundRect">
            <a:avLst>
              <a:gd name="adj" fmla="val 7619"/>
            </a:avLst>
          </a:prstGeom>
          <a:solidFill>
            <a:srgbClr val="18213A"/>
          </a:solidFill>
          <a:ln w="12700">
            <a:solidFill>
              <a:srgbClr val="2E4270"/>
            </a:solidFill>
            <a:prstDash val="solid"/>
          </a:ln>
          <a:effectLst>
            <a:outerShdw sx="100000" sy="100000" kx="0" ky="0" algn="bl" rotWithShape="0" blurRad="228600" dist="50800" dir="5400000">
              <a:srgbClr val="000000">
                <a:alpha val="18000"/>
              </a:srgbClr>
            </a:outerShdw>
          </a:effectLst>
        </p:spPr>
      </p:sp>
      <p:sp>
        <p:nvSpPr>
          <p:cNvPr id="11" name="Shape 8"/>
          <p:cNvSpPr/>
          <p:nvPr/>
        </p:nvSpPr>
        <p:spPr>
          <a:xfrm>
            <a:off x="3611880" y="1965960"/>
            <a:ext cx="548640" cy="548640"/>
          </a:xfrm>
          <a:prstGeom prst="ellipse">
            <a:avLst/>
          </a:prstGeom>
          <a:solidFill>
            <a:srgbClr val="3B82F6"/>
          </a:solidFill>
          <a:ln/>
        </p:spPr>
      </p:sp>
      <p:sp>
        <p:nvSpPr>
          <p:cNvPr id="12" name="Text 9"/>
          <p:cNvSpPr txBox="1"/>
          <p:nvPr/>
        </p:nvSpPr>
        <p:spPr>
          <a:xfrm>
            <a:off x="3611880" y="196596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0"/>
          <p:cNvSpPr txBox="1"/>
          <p:nvPr/>
        </p:nvSpPr>
        <p:spPr>
          <a:xfrm>
            <a:off x="3008376" y="2633472"/>
            <a:ext cx="1746504" cy="502920"/>
          </a:xfrm>
          <a:prstGeom prst="rect">
            <a:avLst/>
          </a:prstGeom>
          <a:noFill/>
          <a:ln/>
        </p:spPr>
        <p:txBody>
          <a:bodyPr wrap="square" lIns="0" tIns="0" rIns="0" bIns="0" rtlCol="0" anchor="ctr"/>
          <a:lstStyle/>
          <a:p>
            <a:pPr algn="ctr" indent="0" marL="0">
              <a:lnSpc>
                <a:spcPts val="1600"/>
              </a:lnSpc>
              <a:buNone/>
            </a:pPr>
            <a:r>
              <a:rPr lang="en-US" sz="1200" b="1" dirty="0">
                <a:solidFill>
                  <a:srgbClr val="FFFFFF"/>
                </a:solidFill>
                <a:latin typeface="Arial" pitchFamily="34" charset="0"/>
                <a:ea typeface="Arial" pitchFamily="34" charset="-122"/>
                <a:cs typeface="Arial" pitchFamily="34" charset="-120"/>
              </a:rPr>
              <a:t>Size limit</a:t>
            </a:r>
            <a:endParaRPr lang="en-US" sz="1200" dirty="0"/>
          </a:p>
        </p:txBody>
      </p:sp>
      <p:sp>
        <p:nvSpPr>
          <p:cNvPr id="14" name="Text 11"/>
          <p:cNvSpPr txBox="1"/>
          <p:nvPr/>
        </p:nvSpPr>
        <p:spPr>
          <a:xfrm>
            <a:off x="3081528" y="3154680"/>
            <a:ext cx="1600200" cy="411480"/>
          </a:xfrm>
          <a:prstGeom prst="rect">
            <a:avLst/>
          </a:prstGeom>
          <a:noFill/>
          <a:ln/>
        </p:spPr>
        <p:txBody>
          <a:bodyPr wrap="square" lIns="0" tIns="0" rIns="0" bIns="0" rtlCol="0" anchor="t"/>
          <a:lstStyle/>
          <a:p>
            <a:pPr algn="ctr" indent="0" marL="0">
              <a:lnSpc>
                <a:spcPts val="1400"/>
              </a:lnSpc>
              <a:buNone/>
            </a:pPr>
            <a:r>
              <a:rPr lang="en-US" sz="1050" dirty="0">
                <a:solidFill>
                  <a:srgbClr val="A9B6CC"/>
                </a:solidFill>
                <a:latin typeface="Calibri" pitchFamily="34" charset="0"/>
                <a:ea typeface="Calibri" pitchFamily="34" charset="-122"/>
                <a:cs typeface="Calibri" pitchFamily="34" charset="-120"/>
              </a:rPr>
              <a:t>20 MB cap</a:t>
            </a:r>
            <a:endParaRPr lang="en-US" sz="1050" dirty="0"/>
          </a:p>
        </p:txBody>
      </p:sp>
      <p:sp>
        <p:nvSpPr>
          <p:cNvPr id="15" name="Shape 12"/>
          <p:cNvSpPr/>
          <p:nvPr/>
        </p:nvSpPr>
        <p:spPr>
          <a:xfrm>
            <a:off x="5111496" y="1691640"/>
            <a:ext cx="1965960" cy="1920240"/>
          </a:xfrm>
          <a:prstGeom prst="roundRect">
            <a:avLst>
              <a:gd name="adj" fmla="val 7619"/>
            </a:avLst>
          </a:prstGeom>
          <a:solidFill>
            <a:srgbClr val="18213A"/>
          </a:solidFill>
          <a:ln w="12700">
            <a:solidFill>
              <a:srgbClr val="2E4270"/>
            </a:solidFill>
            <a:prstDash val="solid"/>
          </a:ln>
          <a:effectLst>
            <a:outerShdw sx="100000" sy="100000" kx="0" ky="0" algn="bl" rotWithShape="0" blurRad="228600" dist="50800" dir="5400000">
              <a:srgbClr val="000000">
                <a:alpha val="18000"/>
              </a:srgbClr>
            </a:outerShdw>
          </a:effectLst>
        </p:spPr>
      </p:sp>
      <p:sp>
        <p:nvSpPr>
          <p:cNvPr id="16" name="Shape 13"/>
          <p:cNvSpPr/>
          <p:nvPr/>
        </p:nvSpPr>
        <p:spPr>
          <a:xfrm>
            <a:off x="5824728" y="1965960"/>
            <a:ext cx="548640" cy="548640"/>
          </a:xfrm>
          <a:prstGeom prst="ellipse">
            <a:avLst/>
          </a:prstGeom>
          <a:solidFill>
            <a:srgbClr val="3B82F6"/>
          </a:solidFill>
          <a:ln/>
        </p:spPr>
      </p:sp>
      <p:sp>
        <p:nvSpPr>
          <p:cNvPr id="17" name="Text 14"/>
          <p:cNvSpPr txBox="1"/>
          <p:nvPr/>
        </p:nvSpPr>
        <p:spPr>
          <a:xfrm>
            <a:off x="5824728" y="196596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5"/>
          <p:cNvSpPr txBox="1"/>
          <p:nvPr/>
        </p:nvSpPr>
        <p:spPr>
          <a:xfrm>
            <a:off x="5221224" y="2633472"/>
            <a:ext cx="1746504" cy="502920"/>
          </a:xfrm>
          <a:prstGeom prst="rect">
            <a:avLst/>
          </a:prstGeom>
          <a:noFill/>
          <a:ln/>
        </p:spPr>
        <p:txBody>
          <a:bodyPr wrap="square" lIns="0" tIns="0" rIns="0" bIns="0" rtlCol="0" anchor="ctr"/>
          <a:lstStyle/>
          <a:p>
            <a:pPr algn="ctr" indent="0" marL="0">
              <a:lnSpc>
                <a:spcPts val="1600"/>
              </a:lnSpc>
              <a:buNone/>
            </a:pPr>
            <a:r>
              <a:rPr lang="en-US" sz="1200" b="1" dirty="0">
                <a:solidFill>
                  <a:srgbClr val="FFFFFF"/>
                </a:solidFill>
                <a:latin typeface="Arial" pitchFamily="34" charset="0"/>
                <a:ea typeface="Arial" pitchFamily="34" charset="-122"/>
                <a:cs typeface="Arial" pitchFamily="34" charset="-120"/>
              </a:rPr>
              <a:t>Magic-byte sniff</a:t>
            </a:r>
            <a:endParaRPr lang="en-US" sz="1200" dirty="0"/>
          </a:p>
        </p:txBody>
      </p:sp>
      <p:sp>
        <p:nvSpPr>
          <p:cNvPr id="19" name="Text 16"/>
          <p:cNvSpPr txBox="1"/>
          <p:nvPr/>
        </p:nvSpPr>
        <p:spPr>
          <a:xfrm>
            <a:off x="5294376" y="3154680"/>
            <a:ext cx="1600200" cy="411480"/>
          </a:xfrm>
          <a:prstGeom prst="rect">
            <a:avLst/>
          </a:prstGeom>
          <a:noFill/>
          <a:ln/>
        </p:spPr>
        <p:txBody>
          <a:bodyPr wrap="square" lIns="0" tIns="0" rIns="0" bIns="0" rtlCol="0" anchor="t"/>
          <a:lstStyle/>
          <a:p>
            <a:pPr algn="ctr" indent="0" marL="0">
              <a:lnSpc>
                <a:spcPts val="1400"/>
              </a:lnSpc>
              <a:buNone/>
            </a:pPr>
            <a:r>
              <a:rPr lang="en-US" sz="1050" dirty="0">
                <a:solidFill>
                  <a:srgbClr val="A9B6CC"/>
                </a:solidFill>
                <a:latin typeface="Calibri" pitchFamily="34" charset="0"/>
                <a:ea typeface="Calibri" pitchFamily="34" charset="-122"/>
                <a:cs typeface="Calibri" pitchFamily="34" charset="-120"/>
              </a:rPr>
              <a:t>Renamed .exe rejected</a:t>
            </a:r>
            <a:endParaRPr lang="en-US" sz="1050" dirty="0"/>
          </a:p>
        </p:txBody>
      </p:sp>
      <p:sp>
        <p:nvSpPr>
          <p:cNvPr id="20" name="Shape 17"/>
          <p:cNvSpPr/>
          <p:nvPr/>
        </p:nvSpPr>
        <p:spPr>
          <a:xfrm>
            <a:off x="7324344" y="1691640"/>
            <a:ext cx="1965960" cy="1920240"/>
          </a:xfrm>
          <a:prstGeom prst="roundRect">
            <a:avLst>
              <a:gd name="adj" fmla="val 7619"/>
            </a:avLst>
          </a:prstGeom>
          <a:solidFill>
            <a:srgbClr val="18213A"/>
          </a:solidFill>
          <a:ln w="12700">
            <a:solidFill>
              <a:srgbClr val="2E4270"/>
            </a:solidFill>
            <a:prstDash val="solid"/>
          </a:ln>
          <a:effectLst>
            <a:outerShdw sx="100000" sy="100000" kx="0" ky="0" algn="bl" rotWithShape="0" blurRad="228600" dist="50800" dir="5400000">
              <a:srgbClr val="000000">
                <a:alpha val="18000"/>
              </a:srgbClr>
            </a:outerShdw>
          </a:effectLst>
        </p:spPr>
      </p:sp>
      <p:sp>
        <p:nvSpPr>
          <p:cNvPr id="21" name="Shape 18"/>
          <p:cNvSpPr/>
          <p:nvPr/>
        </p:nvSpPr>
        <p:spPr>
          <a:xfrm>
            <a:off x="8037576" y="1965960"/>
            <a:ext cx="548640" cy="548640"/>
          </a:xfrm>
          <a:prstGeom prst="ellipse">
            <a:avLst/>
          </a:prstGeom>
          <a:solidFill>
            <a:srgbClr val="3B82F6"/>
          </a:solidFill>
          <a:ln/>
        </p:spPr>
      </p:sp>
      <p:sp>
        <p:nvSpPr>
          <p:cNvPr id="22" name="Text 19"/>
          <p:cNvSpPr txBox="1"/>
          <p:nvPr/>
        </p:nvSpPr>
        <p:spPr>
          <a:xfrm>
            <a:off x="8037576" y="196596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3" name="Text 20"/>
          <p:cNvSpPr txBox="1"/>
          <p:nvPr/>
        </p:nvSpPr>
        <p:spPr>
          <a:xfrm>
            <a:off x="7434072" y="2633472"/>
            <a:ext cx="1746504" cy="502920"/>
          </a:xfrm>
          <a:prstGeom prst="rect">
            <a:avLst/>
          </a:prstGeom>
          <a:noFill/>
          <a:ln/>
        </p:spPr>
        <p:txBody>
          <a:bodyPr wrap="square" lIns="0" tIns="0" rIns="0" bIns="0" rtlCol="0" anchor="ctr"/>
          <a:lstStyle/>
          <a:p>
            <a:pPr algn="ctr" indent="0" marL="0">
              <a:lnSpc>
                <a:spcPts val="1600"/>
              </a:lnSpc>
              <a:buNone/>
            </a:pPr>
            <a:r>
              <a:rPr lang="en-US" sz="1200" b="1" dirty="0">
                <a:solidFill>
                  <a:srgbClr val="FFFFFF"/>
                </a:solidFill>
                <a:latin typeface="Arial" pitchFamily="34" charset="0"/>
                <a:ea typeface="Arial" pitchFamily="34" charset="-122"/>
                <a:cs typeface="Arial" pitchFamily="34" charset="-120"/>
              </a:rPr>
              <a:t>Content vs</a:t>
            </a:r>
            <a:endParaRPr lang="en-US" sz="1200" dirty="0"/>
          </a:p>
          <a:p>
            <a:pPr algn="ctr" indent="0" marL="0">
              <a:lnSpc>
                <a:spcPts val="1600"/>
              </a:lnSpc>
              <a:buNone/>
            </a:pPr>
            <a:r>
              <a:rPr lang="en-US" sz="1200" b="1" dirty="0">
                <a:solidFill>
                  <a:srgbClr val="FFFFFF"/>
                </a:solidFill>
                <a:latin typeface="Arial" pitchFamily="34" charset="0"/>
                <a:ea typeface="Arial" pitchFamily="34" charset="-122"/>
                <a:cs typeface="Arial" pitchFamily="34" charset="-120"/>
              </a:rPr>
              <a:t>extension</a:t>
            </a:r>
            <a:endParaRPr lang="en-US" sz="1200" dirty="0"/>
          </a:p>
        </p:txBody>
      </p:sp>
      <p:sp>
        <p:nvSpPr>
          <p:cNvPr id="24" name="Text 21"/>
          <p:cNvSpPr txBox="1"/>
          <p:nvPr/>
        </p:nvSpPr>
        <p:spPr>
          <a:xfrm>
            <a:off x="7507224" y="3154680"/>
            <a:ext cx="1600200" cy="411480"/>
          </a:xfrm>
          <a:prstGeom prst="rect">
            <a:avLst/>
          </a:prstGeom>
          <a:noFill/>
          <a:ln/>
        </p:spPr>
        <p:txBody>
          <a:bodyPr wrap="square" lIns="0" tIns="0" rIns="0" bIns="0" rtlCol="0" anchor="t"/>
          <a:lstStyle/>
          <a:p>
            <a:pPr algn="ctr" indent="0" marL="0">
              <a:lnSpc>
                <a:spcPts val="1400"/>
              </a:lnSpc>
              <a:buNone/>
            </a:pPr>
            <a:r>
              <a:rPr lang="en-US" sz="1050" dirty="0">
                <a:solidFill>
                  <a:srgbClr val="A9B6CC"/>
                </a:solidFill>
                <a:latin typeface="Calibri" pitchFamily="34" charset="0"/>
                <a:ea typeface="Calibri" pitchFamily="34" charset="-122"/>
                <a:cs typeface="Calibri" pitchFamily="34" charset="-120"/>
              </a:rPr>
              <a:t>Mismatch refused</a:t>
            </a:r>
            <a:endParaRPr lang="en-US" sz="1050" dirty="0"/>
          </a:p>
        </p:txBody>
      </p:sp>
      <p:sp>
        <p:nvSpPr>
          <p:cNvPr id="25" name="Shape 22"/>
          <p:cNvSpPr/>
          <p:nvPr/>
        </p:nvSpPr>
        <p:spPr>
          <a:xfrm>
            <a:off x="9537192" y="1691640"/>
            <a:ext cx="1965960" cy="1920240"/>
          </a:xfrm>
          <a:prstGeom prst="roundRect">
            <a:avLst>
              <a:gd name="adj" fmla="val 7619"/>
            </a:avLst>
          </a:prstGeom>
          <a:solidFill>
            <a:srgbClr val="18213A"/>
          </a:solidFill>
          <a:ln w="12700">
            <a:solidFill>
              <a:srgbClr val="2E4270"/>
            </a:solidFill>
            <a:prstDash val="solid"/>
          </a:ln>
          <a:effectLst>
            <a:outerShdw sx="100000" sy="100000" kx="0" ky="0" algn="bl" rotWithShape="0" blurRad="228600" dist="50800" dir="5400000">
              <a:srgbClr val="000000">
                <a:alpha val="18000"/>
              </a:srgbClr>
            </a:outerShdw>
          </a:effectLst>
        </p:spPr>
      </p:sp>
      <p:sp>
        <p:nvSpPr>
          <p:cNvPr id="26" name="Shape 23"/>
          <p:cNvSpPr/>
          <p:nvPr/>
        </p:nvSpPr>
        <p:spPr>
          <a:xfrm>
            <a:off x="10250424" y="1965960"/>
            <a:ext cx="548640" cy="548640"/>
          </a:xfrm>
          <a:prstGeom prst="ellipse">
            <a:avLst/>
          </a:prstGeom>
          <a:solidFill>
            <a:srgbClr val="3B82F6"/>
          </a:solidFill>
          <a:ln/>
        </p:spPr>
      </p:sp>
      <p:sp>
        <p:nvSpPr>
          <p:cNvPr id="27" name="Text 24"/>
          <p:cNvSpPr txBox="1"/>
          <p:nvPr/>
        </p:nvSpPr>
        <p:spPr>
          <a:xfrm>
            <a:off x="10250424" y="196596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5"/>
          <p:cNvSpPr txBox="1"/>
          <p:nvPr/>
        </p:nvSpPr>
        <p:spPr>
          <a:xfrm>
            <a:off x="9646920" y="2633472"/>
            <a:ext cx="1746504" cy="502920"/>
          </a:xfrm>
          <a:prstGeom prst="rect">
            <a:avLst/>
          </a:prstGeom>
          <a:noFill/>
          <a:ln/>
        </p:spPr>
        <p:txBody>
          <a:bodyPr wrap="square" lIns="0" tIns="0" rIns="0" bIns="0" rtlCol="0" anchor="ctr"/>
          <a:lstStyle/>
          <a:p>
            <a:pPr algn="ctr" indent="0" marL="0">
              <a:lnSpc>
                <a:spcPts val="1600"/>
              </a:lnSpc>
              <a:buNone/>
            </a:pPr>
            <a:r>
              <a:rPr lang="en-US" sz="1200" b="1" dirty="0">
                <a:solidFill>
                  <a:srgbClr val="FFFFFF"/>
                </a:solidFill>
                <a:latin typeface="Arial" pitchFamily="34" charset="0"/>
                <a:ea typeface="Arial" pitchFamily="34" charset="-122"/>
                <a:cs typeface="Arial" pitchFamily="34" charset="-120"/>
              </a:rPr>
              <a:t>Dimension check</a:t>
            </a:r>
            <a:endParaRPr lang="en-US" sz="1200" dirty="0"/>
          </a:p>
        </p:txBody>
      </p:sp>
      <p:sp>
        <p:nvSpPr>
          <p:cNvPr id="29" name="Text 26"/>
          <p:cNvSpPr txBox="1"/>
          <p:nvPr/>
        </p:nvSpPr>
        <p:spPr>
          <a:xfrm>
            <a:off x="9720072" y="3154680"/>
            <a:ext cx="1600200" cy="411480"/>
          </a:xfrm>
          <a:prstGeom prst="rect">
            <a:avLst/>
          </a:prstGeom>
          <a:noFill/>
          <a:ln/>
        </p:spPr>
        <p:txBody>
          <a:bodyPr wrap="square" lIns="0" tIns="0" rIns="0" bIns="0" rtlCol="0" anchor="t"/>
          <a:lstStyle/>
          <a:p>
            <a:pPr algn="ctr" indent="0" marL="0">
              <a:lnSpc>
                <a:spcPts val="1400"/>
              </a:lnSpc>
              <a:buNone/>
            </a:pPr>
            <a:r>
              <a:rPr lang="en-US" sz="1050" dirty="0">
                <a:solidFill>
                  <a:srgbClr val="A9B6CC"/>
                </a:solidFill>
                <a:latin typeface="Calibri" pitchFamily="34" charset="0"/>
                <a:ea typeface="Calibri" pitchFamily="34" charset="-122"/>
                <a:cs typeface="Calibri" pitchFamily="34" charset="-120"/>
              </a:rPr>
              <a:t>Blocks image bombs</a:t>
            </a:r>
            <a:endParaRPr lang="en-US" sz="1050" dirty="0"/>
          </a:p>
        </p:txBody>
      </p:sp>
      <p:sp>
        <p:nvSpPr>
          <p:cNvPr id="30" name="Shape 27"/>
          <p:cNvSpPr/>
          <p:nvPr/>
        </p:nvSpPr>
        <p:spPr>
          <a:xfrm>
            <a:off x="685800" y="3977640"/>
            <a:ext cx="3383280" cy="1371600"/>
          </a:xfrm>
          <a:prstGeom prst="roundRect">
            <a:avLst>
              <a:gd name="adj" fmla="val 10667"/>
            </a:avLst>
          </a:prstGeom>
          <a:solidFill>
            <a:srgbClr val="0A1628"/>
          </a:solidFill>
          <a:ln w="12700">
            <a:solidFill>
              <a:srgbClr val="1E3A5F"/>
            </a:solidFill>
            <a:prstDash val="solid"/>
          </a:ln>
          <a:effectLst>
            <a:outerShdw sx="100000" sy="100000" kx="0" ky="0" algn="bl" rotWithShape="0" blurRad="228600" dist="50800" dir="5400000">
              <a:srgbClr val="000000">
                <a:alpha val="18000"/>
              </a:srgbClr>
            </a:outerShdw>
          </a:effectLst>
        </p:spPr>
      </p:sp>
      <p:sp>
        <p:nvSpPr>
          <p:cNvPr id="31" name="Text 28"/>
          <p:cNvSpPr txBox="1"/>
          <p:nvPr/>
        </p:nvSpPr>
        <p:spPr>
          <a:xfrm>
            <a:off x="960120" y="4187952"/>
            <a:ext cx="2834640" cy="274320"/>
          </a:xfrm>
          <a:prstGeom prst="rect">
            <a:avLst/>
          </a:prstGeom>
          <a:noFill/>
          <a:ln/>
        </p:spPr>
        <p:txBody>
          <a:bodyPr wrap="square" lIns="0" tIns="0" rIns="0" bIns="0" rtlCol="0" anchor="ctr"/>
          <a:lstStyle/>
          <a:p>
            <a:pPr indent="0" marL="0">
              <a:buNone/>
            </a:pPr>
            <a:r>
              <a:rPr lang="en-US" sz="1350" b="1" dirty="0">
                <a:solidFill>
                  <a:srgbClr val="14B8A6"/>
                </a:solidFill>
                <a:latin typeface="Arial" pitchFamily="34" charset="0"/>
                <a:ea typeface="Arial" pitchFamily="34" charset="-122"/>
                <a:cs typeface="Arial" pitchFamily="34" charset="-120"/>
              </a:rPr>
              <a:t>Opaque storage</a:t>
            </a:r>
            <a:endParaRPr lang="en-US" sz="1350" dirty="0"/>
          </a:p>
        </p:txBody>
      </p:sp>
      <p:sp>
        <p:nvSpPr>
          <p:cNvPr id="32" name="Text 29"/>
          <p:cNvSpPr txBox="1"/>
          <p:nvPr/>
        </p:nvSpPr>
        <p:spPr>
          <a:xfrm>
            <a:off x="960120" y="4498848"/>
            <a:ext cx="2834640" cy="731520"/>
          </a:xfrm>
          <a:prstGeom prst="rect">
            <a:avLst/>
          </a:prstGeom>
          <a:noFill/>
          <a:ln/>
        </p:spPr>
        <p:txBody>
          <a:bodyPr wrap="square" lIns="0" tIns="0" rIns="0" bIns="0" rtlCol="0" anchor="t"/>
          <a:lstStyle/>
          <a:p>
            <a:pPr algn="l" indent="0" marL="0">
              <a:lnSpc>
                <a:spcPts val="1700"/>
              </a:lnSpc>
              <a:buNone/>
            </a:pPr>
            <a:r>
              <a:rPr lang="en-US" sz="1200" dirty="0">
                <a:solidFill>
                  <a:srgbClr val="B6C2D9"/>
                </a:solidFill>
                <a:latin typeface="Calibri" pitchFamily="34" charset="0"/>
                <a:ea typeface="Calibri" pitchFamily="34" charset="-122"/>
                <a:cs typeface="Calibri" pitchFamily="34" charset="-120"/>
              </a:rPr>
              <a:t>Files are stored under generated UUIDs, never the name the user supplied.</a:t>
            </a:r>
            <a:endParaRPr lang="en-US" sz="1200" dirty="0"/>
          </a:p>
        </p:txBody>
      </p:sp>
      <p:sp>
        <p:nvSpPr>
          <p:cNvPr id="33" name="Shape 30"/>
          <p:cNvSpPr/>
          <p:nvPr/>
        </p:nvSpPr>
        <p:spPr>
          <a:xfrm>
            <a:off x="4343400" y="3977640"/>
            <a:ext cx="3383280" cy="1371600"/>
          </a:xfrm>
          <a:prstGeom prst="roundRect">
            <a:avLst>
              <a:gd name="adj" fmla="val 10667"/>
            </a:avLst>
          </a:prstGeom>
          <a:solidFill>
            <a:srgbClr val="0A1628"/>
          </a:solidFill>
          <a:ln w="12700">
            <a:solidFill>
              <a:srgbClr val="1E3A5F"/>
            </a:solidFill>
            <a:prstDash val="solid"/>
          </a:ln>
          <a:effectLst>
            <a:outerShdw sx="100000" sy="100000" kx="0" ky="0" algn="bl" rotWithShape="0" blurRad="228600" dist="50800" dir="5400000">
              <a:srgbClr val="000000">
                <a:alpha val="18000"/>
              </a:srgbClr>
            </a:outerShdw>
          </a:effectLst>
        </p:spPr>
      </p:sp>
      <p:sp>
        <p:nvSpPr>
          <p:cNvPr id="34" name="Text 31"/>
          <p:cNvSpPr txBox="1"/>
          <p:nvPr/>
        </p:nvSpPr>
        <p:spPr>
          <a:xfrm>
            <a:off x="4617720" y="4187952"/>
            <a:ext cx="2834640" cy="274320"/>
          </a:xfrm>
          <a:prstGeom prst="rect">
            <a:avLst/>
          </a:prstGeom>
          <a:noFill/>
          <a:ln/>
        </p:spPr>
        <p:txBody>
          <a:bodyPr wrap="square" lIns="0" tIns="0" rIns="0" bIns="0" rtlCol="0" anchor="ctr"/>
          <a:lstStyle/>
          <a:p>
            <a:pPr indent="0" marL="0">
              <a:buNone/>
            </a:pPr>
            <a:r>
              <a:rPr lang="en-US" sz="1350" b="1" dirty="0">
                <a:solidFill>
                  <a:srgbClr val="14B8A6"/>
                </a:solidFill>
                <a:latin typeface="Arial" pitchFamily="34" charset="0"/>
                <a:ea typeface="Arial" pitchFamily="34" charset="-122"/>
                <a:cs typeface="Arial" pitchFamily="34" charset="-120"/>
              </a:rPr>
              <a:t>Prompt-injection defence</a:t>
            </a:r>
            <a:endParaRPr lang="en-US" sz="1350" dirty="0"/>
          </a:p>
        </p:txBody>
      </p:sp>
      <p:sp>
        <p:nvSpPr>
          <p:cNvPr id="35" name="Text 32"/>
          <p:cNvSpPr txBox="1"/>
          <p:nvPr/>
        </p:nvSpPr>
        <p:spPr>
          <a:xfrm>
            <a:off x="4617720" y="4498848"/>
            <a:ext cx="2834640" cy="731520"/>
          </a:xfrm>
          <a:prstGeom prst="rect">
            <a:avLst/>
          </a:prstGeom>
          <a:noFill/>
          <a:ln/>
        </p:spPr>
        <p:txBody>
          <a:bodyPr wrap="square" lIns="0" tIns="0" rIns="0" bIns="0" rtlCol="0" anchor="t"/>
          <a:lstStyle/>
          <a:p>
            <a:pPr algn="l" indent="0" marL="0">
              <a:lnSpc>
                <a:spcPts val="1700"/>
              </a:lnSpc>
              <a:buNone/>
            </a:pPr>
            <a:r>
              <a:rPr lang="en-US" sz="1200" dirty="0">
                <a:solidFill>
                  <a:srgbClr val="B6C2D9"/>
                </a:solidFill>
                <a:latin typeface="Calibri" pitchFamily="34" charset="0"/>
                <a:ea typeface="Calibri" pitchFamily="34" charset="-122"/>
                <a:cs typeface="Calibri" pitchFamily="34" charset="-120"/>
              </a:rPr>
              <a:t>Document names are fenced as untrusted data before they reach the model.</a:t>
            </a:r>
            <a:endParaRPr lang="en-US" sz="1200" dirty="0"/>
          </a:p>
        </p:txBody>
      </p:sp>
      <p:sp>
        <p:nvSpPr>
          <p:cNvPr id="36" name="Shape 33"/>
          <p:cNvSpPr/>
          <p:nvPr/>
        </p:nvSpPr>
        <p:spPr>
          <a:xfrm>
            <a:off x="8001000" y="3977640"/>
            <a:ext cx="3383280" cy="1371600"/>
          </a:xfrm>
          <a:prstGeom prst="roundRect">
            <a:avLst>
              <a:gd name="adj" fmla="val 10667"/>
            </a:avLst>
          </a:prstGeom>
          <a:solidFill>
            <a:srgbClr val="0A1628"/>
          </a:solidFill>
          <a:ln w="12700">
            <a:solidFill>
              <a:srgbClr val="1E3A5F"/>
            </a:solidFill>
            <a:prstDash val="solid"/>
          </a:ln>
          <a:effectLst>
            <a:outerShdw sx="100000" sy="100000" kx="0" ky="0" algn="bl" rotWithShape="0" blurRad="228600" dist="50800" dir="5400000">
              <a:srgbClr val="000000">
                <a:alpha val="18000"/>
              </a:srgbClr>
            </a:outerShdw>
          </a:effectLst>
        </p:spPr>
      </p:sp>
      <p:sp>
        <p:nvSpPr>
          <p:cNvPr id="37" name="Text 34"/>
          <p:cNvSpPr txBox="1"/>
          <p:nvPr/>
        </p:nvSpPr>
        <p:spPr>
          <a:xfrm>
            <a:off x="8275320" y="4187952"/>
            <a:ext cx="2834640" cy="274320"/>
          </a:xfrm>
          <a:prstGeom prst="rect">
            <a:avLst/>
          </a:prstGeom>
          <a:noFill/>
          <a:ln/>
        </p:spPr>
        <p:txBody>
          <a:bodyPr wrap="square" lIns="0" tIns="0" rIns="0" bIns="0" rtlCol="0" anchor="ctr"/>
          <a:lstStyle/>
          <a:p>
            <a:pPr indent="0" marL="0">
              <a:buNone/>
            </a:pPr>
            <a:r>
              <a:rPr lang="en-US" sz="1350" b="1" dirty="0">
                <a:solidFill>
                  <a:srgbClr val="14B8A6"/>
                </a:solidFill>
                <a:latin typeface="Arial" pitchFamily="34" charset="0"/>
                <a:ea typeface="Arial" pitchFamily="34" charset="-122"/>
                <a:cs typeface="Arial" pitchFamily="34" charset="-120"/>
              </a:rPr>
              <a:t>Loopback only</a:t>
            </a:r>
            <a:endParaRPr lang="en-US" sz="1350" dirty="0"/>
          </a:p>
        </p:txBody>
      </p:sp>
      <p:sp>
        <p:nvSpPr>
          <p:cNvPr id="38" name="Text 35"/>
          <p:cNvSpPr txBox="1"/>
          <p:nvPr/>
        </p:nvSpPr>
        <p:spPr>
          <a:xfrm>
            <a:off x="8275320" y="4498848"/>
            <a:ext cx="2834640" cy="731520"/>
          </a:xfrm>
          <a:prstGeom prst="rect">
            <a:avLst/>
          </a:prstGeom>
          <a:noFill/>
          <a:ln/>
        </p:spPr>
        <p:txBody>
          <a:bodyPr wrap="square" lIns="0" tIns="0" rIns="0" bIns="0" rtlCol="0" anchor="t"/>
          <a:lstStyle/>
          <a:p>
            <a:pPr algn="l" indent="0" marL="0">
              <a:lnSpc>
                <a:spcPts val="1700"/>
              </a:lnSpc>
              <a:buNone/>
            </a:pPr>
            <a:r>
              <a:rPr lang="en-US" sz="1200" dirty="0">
                <a:solidFill>
                  <a:srgbClr val="B6C2D9"/>
                </a:solidFill>
                <a:latin typeface="Calibri" pitchFamily="34" charset="0"/>
                <a:ea typeface="Calibri" pitchFamily="34" charset="-122"/>
                <a:cs typeface="Calibri" pitchFamily="34" charset="-120"/>
              </a:rPr>
              <a:t>The server binds to 127.0.0.1 by default — not reachable from the network.</a:t>
            </a:r>
            <a:endParaRPr lang="en-US" sz="1200" dirty="0"/>
          </a:p>
        </p:txBody>
      </p:sp>
      <p:sp>
        <p:nvSpPr>
          <p:cNvPr id="39" name="Text 36"/>
          <p:cNvSpPr txBox="1"/>
          <p:nvPr/>
        </p:nvSpPr>
        <p:spPr>
          <a:xfrm>
            <a:off x="685800" y="5715000"/>
            <a:ext cx="10789920" cy="640080"/>
          </a:xfrm>
          <a:prstGeom prst="rect">
            <a:avLst/>
          </a:prstGeom>
          <a:noFill/>
          <a:ln/>
        </p:spPr>
        <p:txBody>
          <a:bodyPr wrap="square" lIns="0" tIns="0" rIns="0" bIns="0" rtlCol="0" anchor="ctr"/>
          <a:lstStyle/>
          <a:p>
            <a:pPr indent="0" marL="0">
              <a:lnSpc>
                <a:spcPts val="1800"/>
              </a:lnSpc>
              <a:buNone/>
            </a:pPr>
            <a:r>
              <a:rPr lang="en-US" sz="1250" dirty="0">
                <a:solidFill>
                  <a:srgbClr val="93A3BC"/>
                </a:solidFill>
                <a:latin typeface="Calibri" pitchFamily="34" charset="0"/>
                <a:ea typeface="Calibri" pitchFamily="34" charset="-122"/>
                <a:cs typeface="Calibri" pitchFamily="34" charset="-120"/>
              </a:rPr>
              <a:t>Each gate was verified by building the attack and firing it at a running server — a renamed executable, an HTML file with a script tag, a 50000 × 50000 pixel decompression bomb. All rejected. All three real formats accepted.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85800" y="256032"/>
            <a:ext cx="10789920" cy="274320"/>
          </a:xfrm>
          <a:prstGeom prst="rect">
            <a:avLst/>
          </a:prstGeom>
          <a:noFill/>
          <a:ln/>
        </p:spPr>
        <p:txBody>
          <a:bodyPr wrap="square" lIns="0" tIns="0" rIns="0" bIns="0" rtlCol="0" anchor="ctr"/>
          <a:lstStyle/>
          <a:p>
            <a:pPr indent="0" marL="0">
              <a:buNone/>
            </a:pPr>
            <a:r>
              <a:rPr lang="en-US" sz="1150" b="1" spc="200" kern="0" dirty="0">
                <a:solidFill>
                  <a:srgbClr val="8B5CF6"/>
                </a:solidFill>
                <a:latin typeface="Calibri" pitchFamily="34" charset="0"/>
                <a:ea typeface="Calibri" pitchFamily="34" charset="-122"/>
                <a:cs typeface="Calibri" pitchFamily="34" charset="-120"/>
              </a:rPr>
              <a:t>IBM BOB</a:t>
            </a:r>
            <a:endParaRPr lang="en-US" sz="1150" dirty="0"/>
          </a:p>
        </p:txBody>
      </p:sp>
      <p:sp>
        <p:nvSpPr>
          <p:cNvPr id="4" name="Text 1"/>
          <p:cNvSpPr txBox="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rgbClr val="0B1120"/>
                </a:solidFill>
                <a:latin typeface="Arial" pitchFamily="34" charset="0"/>
                <a:ea typeface="Arial" pitchFamily="34" charset="-122"/>
                <a:cs typeface="Arial" pitchFamily="34" charset="-120"/>
              </a:rPr>
              <a:t>Nine review sessions, all in the repository</a:t>
            </a:r>
            <a:endParaRPr lang="en-US" sz="3200" dirty="0"/>
          </a:p>
        </p:txBody>
      </p:sp>
      <p:sp>
        <p:nvSpPr>
          <p:cNvPr id="5" name="Text 2"/>
          <p:cNvSpPr txBox="1"/>
          <p:nvPr/>
        </p:nvSpPr>
        <p:spPr>
          <a:xfrm>
            <a:off x="685800" y="1600200"/>
            <a:ext cx="2194560" cy="777240"/>
          </a:xfrm>
          <a:prstGeom prst="rect">
            <a:avLst/>
          </a:prstGeom>
          <a:noFill/>
          <a:ln/>
        </p:spPr>
        <p:txBody>
          <a:bodyPr wrap="square" lIns="0" tIns="0" rIns="0" bIns="0" rtlCol="0" anchor="ctr"/>
          <a:lstStyle/>
          <a:p>
            <a:pPr algn="l" indent="0" marL="0">
              <a:buNone/>
            </a:pPr>
            <a:r>
              <a:rPr lang="en-US" sz="4400" b="1" dirty="0">
                <a:solidFill>
                  <a:srgbClr val="8B5CF6"/>
                </a:solidFill>
                <a:latin typeface="Arial" pitchFamily="34" charset="0"/>
                <a:ea typeface="Arial" pitchFamily="34" charset="-122"/>
                <a:cs typeface="Arial" pitchFamily="34" charset="-120"/>
              </a:rPr>
              <a:t>9</a:t>
            </a:r>
            <a:endParaRPr lang="en-US" sz="4400" dirty="0"/>
          </a:p>
        </p:txBody>
      </p:sp>
      <p:sp>
        <p:nvSpPr>
          <p:cNvPr id="6" name="Text 3"/>
          <p:cNvSpPr txBox="1"/>
          <p:nvPr/>
        </p:nvSpPr>
        <p:spPr>
          <a:xfrm>
            <a:off x="685800" y="2350008"/>
            <a:ext cx="2194560" cy="548640"/>
          </a:xfrm>
          <a:prstGeom prst="rect">
            <a:avLst/>
          </a:prstGeom>
          <a:noFill/>
          <a:ln/>
        </p:spPr>
        <p:txBody>
          <a:bodyPr wrap="square" lIns="0" tIns="0" rIns="0" bIns="0" rtlCol="0" anchor="ctr"/>
          <a:lstStyle/>
          <a:p>
            <a:pPr algn="l" indent="0" marL="0">
              <a:lnSpc>
                <a:spcPts val="1600"/>
              </a:lnSpc>
              <a:buNone/>
            </a:pPr>
            <a:r>
              <a:rPr lang="en-US" sz="1250" dirty="0">
                <a:solidFill>
                  <a:srgbClr val="475569"/>
                </a:solidFill>
                <a:latin typeface="Calibri" pitchFamily="34" charset="0"/>
                <a:ea typeface="Calibri" pitchFamily="34" charset="-122"/>
                <a:cs typeface="Calibri" pitchFamily="34" charset="-120"/>
              </a:rPr>
              <a:t>review sessions,</a:t>
            </a:r>
            <a:endParaRPr lang="en-US" sz="1250" dirty="0"/>
          </a:p>
          <a:p>
            <a:pPr algn="l" indent="0" marL="0">
              <a:lnSpc>
                <a:spcPts val="1600"/>
              </a:lnSpc>
              <a:buNone/>
            </a:pPr>
            <a:r>
              <a:rPr lang="en-US" sz="1250" dirty="0">
                <a:solidFill>
                  <a:srgbClr val="475569"/>
                </a:solidFill>
                <a:latin typeface="Calibri" pitchFamily="34" charset="0"/>
                <a:ea typeface="Calibri" pitchFamily="34" charset="-122"/>
                <a:cs typeface="Calibri" pitchFamily="34" charset="-120"/>
              </a:rPr>
              <a:t>each one documented</a:t>
            </a:r>
            <a:endParaRPr lang="en-US" sz="1250" dirty="0"/>
          </a:p>
        </p:txBody>
      </p:sp>
      <p:sp>
        <p:nvSpPr>
          <p:cNvPr id="7" name="Text 4"/>
          <p:cNvSpPr txBox="1"/>
          <p:nvPr/>
        </p:nvSpPr>
        <p:spPr>
          <a:xfrm>
            <a:off x="3200400" y="1600200"/>
            <a:ext cx="2194560" cy="777240"/>
          </a:xfrm>
          <a:prstGeom prst="rect">
            <a:avLst/>
          </a:prstGeom>
          <a:noFill/>
          <a:ln/>
        </p:spPr>
        <p:txBody>
          <a:bodyPr wrap="square" lIns="0" tIns="0" rIns="0" bIns="0" rtlCol="0" anchor="ctr"/>
          <a:lstStyle/>
          <a:p>
            <a:pPr algn="l" indent="0" marL="0">
              <a:buNone/>
            </a:pPr>
            <a:r>
              <a:rPr lang="en-US" sz="4400" b="1" dirty="0">
                <a:solidFill>
                  <a:srgbClr val="3B82F6"/>
                </a:solidFill>
                <a:latin typeface="Arial" pitchFamily="34" charset="0"/>
                <a:ea typeface="Arial" pitchFamily="34" charset="-122"/>
                <a:cs typeface="Arial" pitchFamily="34" charset="-120"/>
              </a:rPr>
              <a:t>32</a:t>
            </a:r>
            <a:endParaRPr lang="en-US" sz="4400" dirty="0"/>
          </a:p>
        </p:txBody>
      </p:sp>
      <p:sp>
        <p:nvSpPr>
          <p:cNvPr id="8" name="Text 5"/>
          <p:cNvSpPr txBox="1"/>
          <p:nvPr/>
        </p:nvSpPr>
        <p:spPr>
          <a:xfrm>
            <a:off x="3200400" y="2350008"/>
            <a:ext cx="2194560" cy="548640"/>
          </a:xfrm>
          <a:prstGeom prst="rect">
            <a:avLst/>
          </a:prstGeom>
          <a:noFill/>
          <a:ln/>
        </p:spPr>
        <p:txBody>
          <a:bodyPr wrap="square" lIns="0" tIns="0" rIns="0" bIns="0" rtlCol="0" anchor="ctr"/>
          <a:lstStyle/>
          <a:p>
            <a:pPr algn="l" indent="0" marL="0">
              <a:lnSpc>
                <a:spcPts val="1600"/>
              </a:lnSpc>
              <a:buNone/>
            </a:pPr>
            <a:r>
              <a:rPr lang="en-US" sz="1250" dirty="0">
                <a:solidFill>
                  <a:srgbClr val="475569"/>
                </a:solidFill>
                <a:latin typeface="Calibri" pitchFamily="34" charset="0"/>
                <a:ea typeface="Calibri" pitchFamily="34" charset="-122"/>
                <a:cs typeface="Calibri" pitchFamily="34" charset="-120"/>
              </a:rPr>
              <a:t>findings raised</a:t>
            </a:r>
            <a:endParaRPr lang="en-US" sz="1250" dirty="0"/>
          </a:p>
          <a:p>
            <a:pPr algn="l" indent="0" marL="0">
              <a:lnSpc>
                <a:spcPts val="1600"/>
              </a:lnSpc>
              <a:buNone/>
            </a:pPr>
            <a:r>
              <a:rPr lang="en-US" sz="1250" dirty="0">
                <a:solidFill>
                  <a:srgbClr val="475569"/>
                </a:solidFill>
                <a:latin typeface="Calibri" pitchFamily="34" charset="0"/>
                <a:ea typeface="Calibri" pitchFamily="34" charset="-122"/>
                <a:cs typeface="Calibri" pitchFamily="34" charset="-120"/>
              </a:rPr>
              <a:t>across the codebase</a:t>
            </a:r>
            <a:endParaRPr lang="en-US" sz="1250" dirty="0"/>
          </a:p>
        </p:txBody>
      </p:sp>
      <p:sp>
        <p:nvSpPr>
          <p:cNvPr id="9" name="Text 6"/>
          <p:cNvSpPr txBox="1"/>
          <p:nvPr/>
        </p:nvSpPr>
        <p:spPr>
          <a:xfrm>
            <a:off x="5715000" y="1600200"/>
            <a:ext cx="2194560" cy="777240"/>
          </a:xfrm>
          <a:prstGeom prst="rect">
            <a:avLst/>
          </a:prstGeom>
          <a:noFill/>
          <a:ln/>
        </p:spPr>
        <p:txBody>
          <a:bodyPr wrap="square" lIns="0" tIns="0" rIns="0" bIns="0" rtlCol="0" anchor="ctr"/>
          <a:lstStyle/>
          <a:p>
            <a:pPr algn="l" indent="0" marL="0">
              <a:buNone/>
            </a:pPr>
            <a:r>
              <a:rPr lang="en-US" sz="4400" b="1" dirty="0">
                <a:solidFill>
                  <a:srgbClr val="14B8A6"/>
                </a:solidFill>
                <a:latin typeface="Arial" pitchFamily="34" charset="0"/>
                <a:ea typeface="Arial" pitchFamily="34" charset="-122"/>
                <a:cs typeface="Arial" pitchFamily="34" charset="-120"/>
              </a:rPr>
              <a:t>80</a:t>
            </a:r>
            <a:endParaRPr lang="en-US" sz="4400" dirty="0"/>
          </a:p>
        </p:txBody>
      </p:sp>
      <p:sp>
        <p:nvSpPr>
          <p:cNvPr id="10" name="Text 7"/>
          <p:cNvSpPr txBox="1"/>
          <p:nvPr/>
        </p:nvSpPr>
        <p:spPr>
          <a:xfrm>
            <a:off x="5715000" y="2350008"/>
            <a:ext cx="2194560" cy="548640"/>
          </a:xfrm>
          <a:prstGeom prst="rect">
            <a:avLst/>
          </a:prstGeom>
          <a:noFill/>
          <a:ln/>
        </p:spPr>
        <p:txBody>
          <a:bodyPr wrap="square" lIns="0" tIns="0" rIns="0" bIns="0" rtlCol="0" anchor="ctr"/>
          <a:lstStyle/>
          <a:p>
            <a:pPr algn="l" indent="0" marL="0">
              <a:lnSpc>
                <a:spcPts val="1600"/>
              </a:lnSpc>
              <a:buNone/>
            </a:pPr>
            <a:r>
              <a:rPr lang="en-US" sz="1250" dirty="0">
                <a:solidFill>
                  <a:srgbClr val="475569"/>
                </a:solidFill>
                <a:latin typeface="Calibri" pitchFamily="34" charset="0"/>
                <a:ea typeface="Calibri" pitchFamily="34" charset="-122"/>
                <a:cs typeface="Calibri" pitchFamily="34" charset="-120"/>
              </a:rPr>
              <a:t>tests authored by Bob</a:t>
            </a:r>
            <a:endParaRPr lang="en-US" sz="1250" dirty="0"/>
          </a:p>
          <a:p>
            <a:pPr algn="l" indent="0" marL="0">
              <a:lnSpc>
                <a:spcPts val="1600"/>
              </a:lnSpc>
              <a:buNone/>
            </a:pPr>
            <a:r>
              <a:rPr lang="en-US" sz="1250" dirty="0">
                <a:solidFill>
                  <a:srgbClr val="475569"/>
                </a:solidFill>
                <a:latin typeface="Calibri" pitchFamily="34" charset="0"/>
                <a:ea typeface="Calibri" pitchFamily="34" charset="-122"/>
                <a:cs typeface="Calibri" pitchFamily="34" charset="-120"/>
              </a:rPr>
              <a:t>in Agent mode</a:t>
            </a:r>
            <a:endParaRPr lang="en-US" sz="1250" dirty="0"/>
          </a:p>
        </p:txBody>
      </p:sp>
      <p:sp>
        <p:nvSpPr>
          <p:cNvPr id="11" name="Text 8"/>
          <p:cNvSpPr txBox="1"/>
          <p:nvPr/>
        </p:nvSpPr>
        <p:spPr>
          <a:xfrm>
            <a:off x="8229600" y="1600200"/>
            <a:ext cx="2926080" cy="777240"/>
          </a:xfrm>
          <a:prstGeom prst="rect">
            <a:avLst/>
          </a:prstGeom>
          <a:noFill/>
          <a:ln/>
        </p:spPr>
        <p:txBody>
          <a:bodyPr wrap="square" lIns="0" tIns="0" rIns="0" bIns="0" rtlCol="0" anchor="ctr"/>
          <a:lstStyle/>
          <a:p>
            <a:pPr algn="l" indent="0" marL="0">
              <a:buNone/>
            </a:pPr>
            <a:r>
              <a:rPr lang="en-US" sz="4400" b="1" dirty="0">
                <a:solidFill>
                  <a:srgbClr val="F59E0B"/>
                </a:solidFill>
                <a:latin typeface="Arial" pitchFamily="34" charset="0"/>
                <a:ea typeface="Arial" pitchFamily="34" charset="-122"/>
                <a:cs typeface="Arial" pitchFamily="34" charset="-120"/>
              </a:rPr>
              <a:t>2.86</a:t>
            </a:r>
            <a:endParaRPr lang="en-US" sz="4400" dirty="0"/>
          </a:p>
        </p:txBody>
      </p:sp>
      <p:sp>
        <p:nvSpPr>
          <p:cNvPr id="12" name="Text 9"/>
          <p:cNvSpPr txBox="1"/>
          <p:nvPr/>
        </p:nvSpPr>
        <p:spPr>
          <a:xfrm>
            <a:off x="8229600" y="2350008"/>
            <a:ext cx="2926080" cy="548640"/>
          </a:xfrm>
          <a:prstGeom prst="rect">
            <a:avLst/>
          </a:prstGeom>
          <a:noFill/>
          <a:ln/>
        </p:spPr>
        <p:txBody>
          <a:bodyPr wrap="square" lIns="0" tIns="0" rIns="0" bIns="0" rtlCol="0" anchor="ctr"/>
          <a:lstStyle/>
          <a:p>
            <a:pPr algn="l" indent="0" marL="0">
              <a:lnSpc>
                <a:spcPts val="1600"/>
              </a:lnSpc>
              <a:buNone/>
            </a:pPr>
            <a:r>
              <a:rPr lang="en-US" sz="1250" dirty="0">
                <a:solidFill>
                  <a:srgbClr val="475569"/>
                </a:solidFill>
                <a:latin typeface="Calibri" pitchFamily="34" charset="0"/>
                <a:ea typeface="Calibri" pitchFamily="34" charset="-122"/>
                <a:cs typeface="Calibri" pitchFamily="34" charset="-120"/>
              </a:rPr>
              <a:t>Bobcoins used</a:t>
            </a:r>
            <a:endParaRPr lang="en-US" sz="1250" dirty="0"/>
          </a:p>
          <a:p>
            <a:pPr algn="l" indent="0" marL="0">
              <a:lnSpc>
                <a:spcPts val="1600"/>
              </a:lnSpc>
              <a:buNone/>
            </a:pPr>
            <a:r>
              <a:rPr lang="en-US" sz="1250" dirty="0">
                <a:solidFill>
                  <a:srgbClr val="475569"/>
                </a:solidFill>
                <a:latin typeface="Calibri" pitchFamily="34" charset="0"/>
                <a:ea typeface="Calibri" pitchFamily="34" charset="-122"/>
                <a:cs typeface="Calibri" pitchFamily="34" charset="-120"/>
              </a:rPr>
              <a:t>of 40 available</a:t>
            </a:r>
            <a:endParaRPr lang="en-US" sz="1250" dirty="0"/>
          </a:p>
        </p:txBody>
      </p:sp>
      <p:sp>
        <p:nvSpPr>
          <p:cNvPr id="13" name="Shape 10"/>
          <p:cNvSpPr/>
          <p:nvPr/>
        </p:nvSpPr>
        <p:spPr>
          <a:xfrm>
            <a:off x="685800" y="3273552"/>
            <a:ext cx="10789920" cy="603504"/>
          </a:xfrm>
          <a:prstGeom prst="roundRect">
            <a:avLst>
              <a:gd name="adj" fmla="val 15152"/>
            </a:avLst>
          </a:prstGeom>
          <a:solidFill>
            <a:srgbClr val="FFFFFF"/>
          </a:solidFill>
          <a:ln w="12700">
            <a:solidFill>
              <a:srgbClr val="E2E8F0"/>
            </a:solidFill>
            <a:prstDash val="solid"/>
          </a:ln>
        </p:spPr>
      </p:sp>
      <p:sp>
        <p:nvSpPr>
          <p:cNvPr id="14" name="Shape 11"/>
          <p:cNvSpPr/>
          <p:nvPr/>
        </p:nvSpPr>
        <p:spPr>
          <a:xfrm>
            <a:off x="960120" y="3483864"/>
            <a:ext cx="182880" cy="182880"/>
          </a:xfrm>
          <a:prstGeom prst="ellipse">
            <a:avLst/>
          </a:prstGeom>
          <a:solidFill>
            <a:srgbClr val="3B82F6"/>
          </a:solidFill>
          <a:ln/>
        </p:spPr>
      </p:sp>
      <p:sp>
        <p:nvSpPr>
          <p:cNvPr id="15" name="Text 12"/>
          <p:cNvSpPr txBox="1"/>
          <p:nvPr/>
        </p:nvSpPr>
        <p:spPr>
          <a:xfrm>
            <a:off x="1325880" y="3410712"/>
            <a:ext cx="2834640" cy="329184"/>
          </a:xfrm>
          <a:prstGeom prst="rect">
            <a:avLst/>
          </a:prstGeom>
          <a:noFill/>
          <a:ln/>
        </p:spPr>
        <p:txBody>
          <a:bodyPr wrap="square" lIns="0" tIns="0" rIns="0" bIns="0" rtlCol="0" anchor="ctr"/>
          <a:lstStyle/>
          <a:p>
            <a:pPr indent="0" marL="0">
              <a:buNone/>
            </a:pPr>
            <a:r>
              <a:rPr lang="en-US" sz="1350" b="1" dirty="0">
                <a:solidFill>
                  <a:srgbClr val="0B1120"/>
                </a:solidFill>
                <a:latin typeface="Arial" pitchFamily="34" charset="0"/>
                <a:ea typeface="Arial" pitchFamily="34" charset="-122"/>
                <a:cs typeface="Arial" pitchFamily="34" charset="-120"/>
              </a:rPr>
              <a:t>Backend code review</a:t>
            </a:r>
            <a:endParaRPr lang="en-US" sz="1350" dirty="0"/>
          </a:p>
        </p:txBody>
      </p:sp>
      <p:sp>
        <p:nvSpPr>
          <p:cNvPr id="16" name="Text 13"/>
          <p:cNvSpPr txBox="1"/>
          <p:nvPr/>
        </p:nvSpPr>
        <p:spPr>
          <a:xfrm>
            <a:off x="4297680" y="3410712"/>
            <a:ext cx="6949440" cy="365760"/>
          </a:xfrm>
          <a:prstGeom prst="rect">
            <a:avLst/>
          </a:prstGeom>
          <a:noFill/>
          <a:ln/>
        </p:spPr>
        <p:txBody>
          <a:bodyPr wrap="square" lIns="0" tIns="0" rIns="0" bIns="0" rtlCol="0" anchor="ctr"/>
          <a:lstStyle/>
          <a:p>
            <a:pPr algn="l" indent="0" marL="0">
              <a:lnSpc>
                <a:spcPts val="1600"/>
              </a:lnSpc>
              <a:buNone/>
            </a:pPr>
            <a:r>
              <a:rPr lang="en-US" sz="1200" dirty="0">
                <a:solidFill>
                  <a:srgbClr val="475569"/>
                </a:solidFill>
                <a:latin typeface="Calibri" pitchFamily="34" charset="0"/>
                <a:ea typeface="Calibri" pitchFamily="34" charset="-122"/>
                <a:cs typeface="Calibri" pitchFamily="34" charset="-120"/>
              </a:rPr>
              <a:t>11 findings. Race conditions, silent write failures, path traversal, missing validation. Nine implemented.</a:t>
            </a:r>
            <a:endParaRPr lang="en-US" sz="1200" dirty="0"/>
          </a:p>
        </p:txBody>
      </p:sp>
      <p:sp>
        <p:nvSpPr>
          <p:cNvPr id="17" name="Shape 14"/>
          <p:cNvSpPr/>
          <p:nvPr/>
        </p:nvSpPr>
        <p:spPr>
          <a:xfrm>
            <a:off x="685800" y="4096512"/>
            <a:ext cx="10789920" cy="603504"/>
          </a:xfrm>
          <a:prstGeom prst="roundRect">
            <a:avLst>
              <a:gd name="adj" fmla="val 15152"/>
            </a:avLst>
          </a:prstGeom>
          <a:solidFill>
            <a:srgbClr val="FFFFFF"/>
          </a:solidFill>
          <a:ln w="12700">
            <a:solidFill>
              <a:srgbClr val="E2E8F0"/>
            </a:solidFill>
            <a:prstDash val="solid"/>
          </a:ln>
        </p:spPr>
      </p:sp>
      <p:sp>
        <p:nvSpPr>
          <p:cNvPr id="18" name="Shape 15"/>
          <p:cNvSpPr/>
          <p:nvPr/>
        </p:nvSpPr>
        <p:spPr>
          <a:xfrm>
            <a:off x="960120" y="4306824"/>
            <a:ext cx="182880" cy="182880"/>
          </a:xfrm>
          <a:prstGeom prst="ellipse">
            <a:avLst/>
          </a:prstGeom>
          <a:solidFill>
            <a:srgbClr val="14B8A6"/>
          </a:solidFill>
          <a:ln/>
        </p:spPr>
      </p:sp>
      <p:sp>
        <p:nvSpPr>
          <p:cNvPr id="19" name="Text 16"/>
          <p:cNvSpPr txBox="1"/>
          <p:nvPr/>
        </p:nvSpPr>
        <p:spPr>
          <a:xfrm>
            <a:off x="1325880" y="4233672"/>
            <a:ext cx="2834640" cy="329184"/>
          </a:xfrm>
          <a:prstGeom prst="rect">
            <a:avLst/>
          </a:prstGeom>
          <a:noFill/>
          <a:ln/>
        </p:spPr>
        <p:txBody>
          <a:bodyPr wrap="square" lIns="0" tIns="0" rIns="0" bIns="0" rtlCol="0" anchor="ctr"/>
          <a:lstStyle/>
          <a:p>
            <a:pPr indent="0" marL="0">
              <a:buNone/>
            </a:pPr>
            <a:r>
              <a:rPr lang="en-US" sz="1350" b="1" dirty="0">
                <a:solidFill>
                  <a:srgbClr val="0B1120"/>
                </a:solidFill>
                <a:latin typeface="Arial" pitchFamily="34" charset="0"/>
                <a:ea typeface="Arial" pitchFamily="34" charset="-122"/>
                <a:cs typeface="Arial" pitchFamily="34" charset="-120"/>
              </a:rPr>
              <a:t>Test suite — Agent mode</a:t>
            </a:r>
            <a:endParaRPr lang="en-US" sz="1350" dirty="0"/>
          </a:p>
        </p:txBody>
      </p:sp>
      <p:sp>
        <p:nvSpPr>
          <p:cNvPr id="20" name="Text 17"/>
          <p:cNvSpPr txBox="1"/>
          <p:nvPr/>
        </p:nvSpPr>
        <p:spPr>
          <a:xfrm>
            <a:off x="4297680" y="4233672"/>
            <a:ext cx="6949440" cy="365760"/>
          </a:xfrm>
          <a:prstGeom prst="rect">
            <a:avLst/>
          </a:prstGeom>
          <a:noFill/>
          <a:ln/>
        </p:spPr>
        <p:txBody>
          <a:bodyPr wrap="square" lIns="0" tIns="0" rIns="0" bIns="0" rtlCol="0" anchor="ctr"/>
          <a:lstStyle/>
          <a:p>
            <a:pPr algn="l" indent="0" marL="0">
              <a:lnSpc>
                <a:spcPts val="1600"/>
              </a:lnSpc>
              <a:buNone/>
            </a:pPr>
            <a:r>
              <a:rPr lang="en-US" sz="1200" dirty="0">
                <a:solidFill>
                  <a:srgbClr val="475569"/>
                </a:solidFill>
                <a:latin typeface="Calibri" pitchFamily="34" charset="0"/>
                <a:ea typeface="Calibri" pitchFamily="34" charset="-122"/>
                <a:cs typeface="Calibri" pitchFamily="34" charset="-120"/>
              </a:rPr>
              <a:t>Bob wrote backend/tests/test_bob_engine.py directly into the repo. 80 tests, 10 classes, all passing.</a:t>
            </a:r>
            <a:endParaRPr lang="en-US" sz="1200" dirty="0"/>
          </a:p>
        </p:txBody>
      </p:sp>
      <p:sp>
        <p:nvSpPr>
          <p:cNvPr id="21" name="Shape 18"/>
          <p:cNvSpPr/>
          <p:nvPr/>
        </p:nvSpPr>
        <p:spPr>
          <a:xfrm>
            <a:off x="685800" y="4919472"/>
            <a:ext cx="10789920" cy="603504"/>
          </a:xfrm>
          <a:prstGeom prst="roundRect">
            <a:avLst>
              <a:gd name="adj" fmla="val 15152"/>
            </a:avLst>
          </a:prstGeom>
          <a:solidFill>
            <a:srgbClr val="FFFFFF"/>
          </a:solidFill>
          <a:ln w="12700">
            <a:solidFill>
              <a:srgbClr val="E2E8F0"/>
            </a:solidFill>
            <a:prstDash val="solid"/>
          </a:ln>
        </p:spPr>
      </p:sp>
      <p:sp>
        <p:nvSpPr>
          <p:cNvPr id="22" name="Shape 19"/>
          <p:cNvSpPr/>
          <p:nvPr/>
        </p:nvSpPr>
        <p:spPr>
          <a:xfrm>
            <a:off x="960120" y="5129784"/>
            <a:ext cx="182880" cy="182880"/>
          </a:xfrm>
          <a:prstGeom prst="ellipse">
            <a:avLst/>
          </a:prstGeom>
          <a:solidFill>
            <a:srgbClr val="8B5CF6"/>
          </a:solidFill>
          <a:ln/>
        </p:spPr>
      </p:sp>
      <p:sp>
        <p:nvSpPr>
          <p:cNvPr id="23" name="Text 20"/>
          <p:cNvSpPr txBox="1"/>
          <p:nvPr/>
        </p:nvSpPr>
        <p:spPr>
          <a:xfrm>
            <a:off x="1325880" y="5056632"/>
            <a:ext cx="2834640" cy="329184"/>
          </a:xfrm>
          <a:prstGeom prst="rect">
            <a:avLst/>
          </a:prstGeom>
          <a:noFill/>
          <a:ln/>
        </p:spPr>
        <p:txBody>
          <a:bodyPr wrap="square" lIns="0" tIns="0" rIns="0" bIns="0" rtlCol="0" anchor="ctr"/>
          <a:lstStyle/>
          <a:p>
            <a:pPr indent="0" marL="0">
              <a:buNone/>
            </a:pPr>
            <a:r>
              <a:rPr lang="en-US" sz="1350" b="1" dirty="0">
                <a:solidFill>
                  <a:srgbClr val="0B1120"/>
                </a:solidFill>
                <a:latin typeface="Arial" pitchFamily="34" charset="0"/>
                <a:ea typeface="Arial" pitchFamily="34" charset="-122"/>
                <a:cs typeface="Arial" pitchFamily="34" charset="-120"/>
              </a:rPr>
              <a:t>Upload security review</a:t>
            </a:r>
            <a:endParaRPr lang="en-US" sz="1350" dirty="0"/>
          </a:p>
        </p:txBody>
      </p:sp>
      <p:sp>
        <p:nvSpPr>
          <p:cNvPr id="24" name="Text 21"/>
          <p:cNvSpPr txBox="1"/>
          <p:nvPr/>
        </p:nvSpPr>
        <p:spPr>
          <a:xfrm>
            <a:off x="4297680" y="5056632"/>
            <a:ext cx="6949440" cy="365760"/>
          </a:xfrm>
          <a:prstGeom prst="rect">
            <a:avLst/>
          </a:prstGeom>
          <a:noFill/>
          <a:ln/>
        </p:spPr>
        <p:txBody>
          <a:bodyPr wrap="square" lIns="0" tIns="0" rIns="0" bIns="0" rtlCol="0" anchor="ctr"/>
          <a:lstStyle/>
          <a:p>
            <a:pPr algn="l" indent="0" marL="0">
              <a:lnSpc>
                <a:spcPts val="1600"/>
              </a:lnSpc>
              <a:buNone/>
            </a:pPr>
            <a:r>
              <a:rPr lang="en-US" sz="1200" dirty="0">
                <a:solidFill>
                  <a:srgbClr val="475569"/>
                </a:solidFill>
                <a:latin typeface="Calibri" pitchFamily="34" charset="0"/>
                <a:ea typeface="Calibri" pitchFamily="34" charset="-122"/>
                <a:cs typeface="Calibri" pitchFamily="34" charset="-120"/>
              </a:rPr>
              <a:t>Five findings including magic-byte spoofing and prompt injection through a crafted filename.</a:t>
            </a:r>
            <a:endParaRPr lang="en-US" sz="1200" dirty="0"/>
          </a:p>
        </p:txBody>
      </p:sp>
      <p:sp>
        <p:nvSpPr>
          <p:cNvPr id="25" name="Shape 22"/>
          <p:cNvSpPr/>
          <p:nvPr/>
        </p:nvSpPr>
        <p:spPr>
          <a:xfrm>
            <a:off x="685800" y="5742432"/>
            <a:ext cx="10789920" cy="603504"/>
          </a:xfrm>
          <a:prstGeom prst="roundRect">
            <a:avLst>
              <a:gd name="adj" fmla="val 15152"/>
            </a:avLst>
          </a:prstGeom>
          <a:solidFill>
            <a:srgbClr val="FFFFFF"/>
          </a:solidFill>
          <a:ln w="12700">
            <a:solidFill>
              <a:srgbClr val="E2E8F0"/>
            </a:solidFill>
            <a:prstDash val="solid"/>
          </a:ln>
        </p:spPr>
      </p:sp>
      <p:sp>
        <p:nvSpPr>
          <p:cNvPr id="26" name="Shape 23"/>
          <p:cNvSpPr/>
          <p:nvPr/>
        </p:nvSpPr>
        <p:spPr>
          <a:xfrm>
            <a:off x="960120" y="5952744"/>
            <a:ext cx="182880" cy="182880"/>
          </a:xfrm>
          <a:prstGeom prst="ellipse">
            <a:avLst/>
          </a:prstGeom>
          <a:solidFill>
            <a:srgbClr val="F59E0B"/>
          </a:solidFill>
          <a:ln/>
        </p:spPr>
      </p:sp>
      <p:sp>
        <p:nvSpPr>
          <p:cNvPr id="27" name="Text 24"/>
          <p:cNvSpPr txBox="1"/>
          <p:nvPr/>
        </p:nvSpPr>
        <p:spPr>
          <a:xfrm>
            <a:off x="1325880" y="5879592"/>
            <a:ext cx="2834640" cy="329184"/>
          </a:xfrm>
          <a:prstGeom prst="rect">
            <a:avLst/>
          </a:prstGeom>
          <a:noFill/>
          <a:ln/>
        </p:spPr>
        <p:txBody>
          <a:bodyPr wrap="square" lIns="0" tIns="0" rIns="0" bIns="0" rtlCol="0" anchor="ctr"/>
          <a:lstStyle/>
          <a:p>
            <a:pPr indent="0" marL="0">
              <a:buNone/>
            </a:pPr>
            <a:r>
              <a:rPr lang="en-US" sz="1350" b="1" dirty="0">
                <a:solidFill>
                  <a:srgbClr val="0B1120"/>
                </a:solidFill>
                <a:latin typeface="Arial" pitchFamily="34" charset="0"/>
                <a:ea typeface="Arial" pitchFamily="34" charset="-122"/>
                <a:cs typeface="Arial" pitchFamily="34" charset="-120"/>
              </a:rPr>
              <a:t>Responsible AI review</a:t>
            </a:r>
            <a:endParaRPr lang="en-US" sz="1350" dirty="0"/>
          </a:p>
        </p:txBody>
      </p:sp>
      <p:sp>
        <p:nvSpPr>
          <p:cNvPr id="28" name="Text 25"/>
          <p:cNvSpPr txBox="1"/>
          <p:nvPr/>
        </p:nvSpPr>
        <p:spPr>
          <a:xfrm>
            <a:off x="4297680" y="5879592"/>
            <a:ext cx="6949440" cy="365760"/>
          </a:xfrm>
          <a:prstGeom prst="rect">
            <a:avLst/>
          </a:prstGeom>
          <a:noFill/>
          <a:ln/>
        </p:spPr>
        <p:txBody>
          <a:bodyPr wrap="square" lIns="0" tIns="0" rIns="0" bIns="0" rtlCol="0" anchor="ctr"/>
          <a:lstStyle/>
          <a:p>
            <a:pPr algn="l" indent="0" marL="0">
              <a:lnSpc>
                <a:spcPts val="1600"/>
              </a:lnSpc>
              <a:buNone/>
            </a:pPr>
            <a:r>
              <a:rPr lang="en-US" sz="1200" dirty="0">
                <a:solidFill>
                  <a:srgbClr val="475569"/>
                </a:solidFill>
                <a:latin typeface="Calibri" pitchFamily="34" charset="0"/>
                <a:ea typeface="Calibri" pitchFamily="34" charset="-122"/>
                <a:cs typeface="Calibri" pitchFamily="34" charset="-120"/>
              </a:rPr>
              <a:t>Assessed against IBM's six principles. Found a seeded score being presented to a patient as an assessment.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85800" y="256032"/>
            <a:ext cx="10789920" cy="274320"/>
          </a:xfrm>
          <a:prstGeom prst="rect">
            <a:avLst/>
          </a:prstGeom>
          <a:noFill/>
          <a:ln/>
        </p:spPr>
        <p:txBody>
          <a:bodyPr wrap="square" lIns="0" tIns="0" rIns="0" bIns="0" rtlCol="0" anchor="ctr"/>
          <a:lstStyle/>
          <a:p>
            <a:pPr indent="0" marL="0">
              <a:buNone/>
            </a:pPr>
            <a:r>
              <a:rPr lang="en-US" sz="1150" b="1" spc="200" kern="0" dirty="0">
                <a:solidFill>
                  <a:srgbClr val="F59E0B"/>
                </a:solidFill>
                <a:latin typeface="Calibri" pitchFamily="34" charset="0"/>
                <a:ea typeface="Calibri" pitchFamily="34" charset="-122"/>
                <a:cs typeface="Calibri" pitchFamily="34" charset="-120"/>
              </a:rPr>
              <a:t>ENGINEERING JUDGEMENT</a:t>
            </a:r>
            <a:endParaRPr lang="en-US" sz="1150" dirty="0"/>
          </a:p>
        </p:txBody>
      </p:sp>
      <p:sp>
        <p:nvSpPr>
          <p:cNvPr id="4" name="Text 1"/>
          <p:cNvSpPr txBox="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rgbClr val="0B1120"/>
                </a:solidFill>
                <a:latin typeface="Arial" pitchFamily="34" charset="0"/>
                <a:ea typeface="Arial" pitchFamily="34" charset="-122"/>
                <a:cs typeface="Arial" pitchFamily="34" charset="-120"/>
              </a:rPr>
              <a:t>We did not accept everything it told us</a:t>
            </a:r>
            <a:endParaRPr lang="en-US" sz="3200" dirty="0"/>
          </a:p>
        </p:txBody>
      </p:sp>
      <p:sp>
        <p:nvSpPr>
          <p:cNvPr id="5" name="Shape 2"/>
          <p:cNvSpPr/>
          <p:nvPr/>
        </p:nvSpPr>
        <p:spPr>
          <a:xfrm>
            <a:off x="685800" y="1554480"/>
            <a:ext cx="5257800" cy="2194560"/>
          </a:xfrm>
          <a:prstGeom prst="roundRect">
            <a:avLst>
              <a:gd name="adj" fmla="val 6667"/>
            </a:avLst>
          </a:prstGeom>
          <a:solidFill>
            <a:srgbClr val="FEF2F2"/>
          </a:solidFill>
          <a:ln w="12700">
            <a:solidFill>
              <a:srgbClr val="FECACA"/>
            </a:solidFill>
            <a:prstDash val="solid"/>
          </a:ln>
          <a:effectLst>
            <a:outerShdw sx="100000" sy="100000" kx="0" ky="0" algn="bl" rotWithShape="0" blurRad="228600" dist="50800" dir="5400000">
              <a:srgbClr val="000000">
                <a:alpha val="18000"/>
              </a:srgbClr>
            </a:outerShdw>
          </a:effectLst>
        </p:spPr>
      </p:sp>
      <p:sp>
        <p:nvSpPr>
          <p:cNvPr id="6" name="Shape 3"/>
          <p:cNvSpPr/>
          <p:nvPr/>
        </p:nvSpPr>
        <p:spPr>
          <a:xfrm>
            <a:off x="1005840" y="1810512"/>
            <a:ext cx="457200" cy="457200"/>
          </a:xfrm>
          <a:prstGeom prst="ellipse">
            <a:avLst/>
          </a:prstGeom>
          <a:solidFill>
            <a:srgbClr val="EF4444"/>
          </a:solidFill>
          <a:ln/>
        </p:spPr>
      </p:sp>
      <p:sp>
        <p:nvSpPr>
          <p:cNvPr id="7" name="Text 4"/>
          <p:cNvSpPr txBox="1"/>
          <p:nvPr/>
        </p:nvSpPr>
        <p:spPr>
          <a:xfrm>
            <a:off x="1005840" y="18105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8" name="Text 5"/>
          <p:cNvSpPr txBox="1"/>
          <p:nvPr/>
        </p:nvSpPr>
        <p:spPr>
          <a:xfrm>
            <a:off x="1600200" y="1847088"/>
            <a:ext cx="4114800" cy="292608"/>
          </a:xfrm>
          <a:prstGeom prst="rect">
            <a:avLst/>
          </a:prstGeom>
          <a:noFill/>
          <a:ln/>
        </p:spPr>
        <p:txBody>
          <a:bodyPr wrap="square" lIns="0" tIns="0" rIns="0" bIns="0" rtlCol="0" anchor="ctr"/>
          <a:lstStyle/>
          <a:p>
            <a:pPr indent="0" marL="0">
              <a:buNone/>
            </a:pPr>
            <a:r>
              <a:rPr lang="en-US" sz="1450" b="1" dirty="0">
                <a:solidFill>
                  <a:srgbClr val="991B1B"/>
                </a:solidFill>
                <a:latin typeface="Arial" pitchFamily="34" charset="0"/>
                <a:ea typeface="Arial" pitchFamily="34" charset="-122"/>
                <a:cs typeface="Arial" pitchFamily="34" charset="-120"/>
              </a:rPr>
              <a:t>Wrong fix — caught by testing</a:t>
            </a:r>
            <a:endParaRPr lang="en-US" sz="1450" dirty="0"/>
          </a:p>
        </p:txBody>
      </p:sp>
      <p:sp>
        <p:nvSpPr>
          <p:cNvPr id="9" name="Text 6"/>
          <p:cNvSpPr txBox="1"/>
          <p:nvPr/>
        </p:nvSpPr>
        <p:spPr>
          <a:xfrm>
            <a:off x="1005840" y="2395728"/>
            <a:ext cx="4617720" cy="1280160"/>
          </a:xfrm>
          <a:prstGeom prst="rect">
            <a:avLst/>
          </a:prstGeom>
          <a:noFill/>
          <a:ln/>
        </p:spPr>
        <p:txBody>
          <a:bodyPr wrap="square" lIns="0" tIns="0" rIns="0" bIns="0" rtlCol="0" anchor="t"/>
          <a:lstStyle/>
          <a:p>
            <a:pPr algn="l" indent="0" marL="0">
              <a:lnSpc>
                <a:spcPts val="1750"/>
              </a:lnSpc>
              <a:buNone/>
            </a:pPr>
            <a:r>
              <a:rPr lang="en-US" sz="1250" dirty="0">
                <a:solidFill>
                  <a:srgbClr val="7F1D1D"/>
                </a:solidFill>
                <a:latin typeface="Calibri" pitchFamily="34" charset="0"/>
                <a:ea typeface="Calibri" pitchFamily="34" charset="-122"/>
                <a:cs typeface="Calibri" pitchFamily="34" charset="-120"/>
              </a:rPr>
              <a:t>Bob told us to restrict CORS to localhost:3000. That is the Create React App port — we use Vite on 5173. Applied verbatim, it would have blocked every request from our own frontend and broken the demo with no visible error.</a:t>
            </a:r>
            <a:endParaRPr lang="en-US" sz="1250" dirty="0"/>
          </a:p>
        </p:txBody>
      </p:sp>
      <p:sp>
        <p:nvSpPr>
          <p:cNvPr id="10" name="Shape 7"/>
          <p:cNvSpPr/>
          <p:nvPr/>
        </p:nvSpPr>
        <p:spPr>
          <a:xfrm>
            <a:off x="6217920" y="1554480"/>
            <a:ext cx="5257800" cy="2194560"/>
          </a:xfrm>
          <a:prstGeom prst="roundRect">
            <a:avLst>
              <a:gd name="adj" fmla="val 6667"/>
            </a:avLst>
          </a:prstGeom>
          <a:solidFill>
            <a:srgbClr val="FEF2F2"/>
          </a:solidFill>
          <a:ln w="12700">
            <a:solidFill>
              <a:srgbClr val="FECACA"/>
            </a:solidFill>
            <a:prstDash val="solid"/>
          </a:ln>
          <a:effectLst>
            <a:outerShdw sx="100000" sy="100000" kx="0" ky="0" algn="bl" rotWithShape="0" blurRad="228600" dist="50800" dir="5400000">
              <a:srgbClr val="000000">
                <a:alpha val="18000"/>
              </a:srgbClr>
            </a:outerShdw>
          </a:effectLst>
        </p:spPr>
      </p:sp>
      <p:sp>
        <p:nvSpPr>
          <p:cNvPr id="11" name="Shape 8"/>
          <p:cNvSpPr/>
          <p:nvPr/>
        </p:nvSpPr>
        <p:spPr>
          <a:xfrm>
            <a:off x="6537960" y="1810512"/>
            <a:ext cx="457200" cy="457200"/>
          </a:xfrm>
          <a:prstGeom prst="ellipse">
            <a:avLst/>
          </a:prstGeom>
          <a:solidFill>
            <a:srgbClr val="EF4444"/>
          </a:solidFill>
          <a:ln/>
        </p:spPr>
      </p:sp>
      <p:sp>
        <p:nvSpPr>
          <p:cNvPr id="12" name="Text 9"/>
          <p:cNvSpPr txBox="1"/>
          <p:nvPr/>
        </p:nvSpPr>
        <p:spPr>
          <a:xfrm>
            <a:off x="6537960" y="18105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3" name="Text 10"/>
          <p:cNvSpPr txBox="1"/>
          <p:nvPr/>
        </p:nvSpPr>
        <p:spPr>
          <a:xfrm>
            <a:off x="7132320" y="1847088"/>
            <a:ext cx="4114800" cy="292608"/>
          </a:xfrm>
          <a:prstGeom prst="rect">
            <a:avLst/>
          </a:prstGeom>
          <a:noFill/>
          <a:ln/>
        </p:spPr>
        <p:txBody>
          <a:bodyPr wrap="square" lIns="0" tIns="0" rIns="0" bIns="0" rtlCol="0" anchor="ctr"/>
          <a:lstStyle/>
          <a:p>
            <a:pPr indent="0" marL="0">
              <a:buNone/>
            </a:pPr>
            <a:r>
              <a:rPr lang="en-US" sz="1450" b="1" dirty="0">
                <a:solidFill>
                  <a:srgbClr val="991B1B"/>
                </a:solidFill>
                <a:latin typeface="Arial" pitchFamily="34" charset="0"/>
                <a:ea typeface="Arial" pitchFamily="34" charset="-122"/>
                <a:cs typeface="Arial" pitchFamily="34" charset="-120"/>
              </a:rPr>
              <a:t>Defective remediation — proven by attack</a:t>
            </a:r>
            <a:endParaRPr lang="en-US" sz="1450" dirty="0"/>
          </a:p>
        </p:txBody>
      </p:sp>
      <p:sp>
        <p:nvSpPr>
          <p:cNvPr id="14" name="Text 11"/>
          <p:cNvSpPr txBox="1"/>
          <p:nvPr/>
        </p:nvSpPr>
        <p:spPr>
          <a:xfrm>
            <a:off x="6537960" y="2395728"/>
            <a:ext cx="4617720" cy="1280160"/>
          </a:xfrm>
          <a:prstGeom prst="rect">
            <a:avLst/>
          </a:prstGeom>
          <a:noFill/>
          <a:ln/>
        </p:spPr>
        <p:txBody>
          <a:bodyPr wrap="square" lIns="0" tIns="0" rIns="0" bIns="0" rtlCol="0" anchor="t"/>
          <a:lstStyle/>
          <a:p>
            <a:pPr algn="l" indent="0" marL="0">
              <a:lnSpc>
                <a:spcPts val="1750"/>
              </a:lnSpc>
              <a:buNone/>
            </a:pPr>
            <a:r>
              <a:rPr lang="en-US" sz="1250" dirty="0">
                <a:solidFill>
                  <a:srgbClr val="7F1D1D"/>
                </a:solidFill>
                <a:latin typeface="Calibri" pitchFamily="34" charset="0"/>
                <a:ea typeface="Calibri" pitchFamily="34" charset="-122"/>
                <a:cs typeface="Calibri" pitchFamily="34" charset="-120"/>
              </a:rPr>
              <a:t>Bob found a prompt-injection vector in filenames, then proposed a regex to strip it. We implemented it exactly, then defeated it with a plain-English filename — ordinary letters have nothing to strip. We added a structural defence instead.</a:t>
            </a:r>
            <a:endParaRPr lang="en-US" sz="1250" dirty="0"/>
          </a:p>
        </p:txBody>
      </p:sp>
      <p:sp>
        <p:nvSpPr>
          <p:cNvPr id="15" name="Shape 12"/>
          <p:cNvSpPr/>
          <p:nvPr/>
        </p:nvSpPr>
        <p:spPr>
          <a:xfrm>
            <a:off x="685800" y="4160520"/>
            <a:ext cx="10789920" cy="2011680"/>
          </a:xfrm>
          <a:prstGeom prst="roundRect">
            <a:avLst>
              <a:gd name="adj" fmla="val 7273"/>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16" name="Text 13"/>
          <p:cNvSpPr txBox="1"/>
          <p:nvPr/>
        </p:nvSpPr>
        <p:spPr>
          <a:xfrm>
            <a:off x="1005840" y="4370832"/>
            <a:ext cx="10058400" cy="292608"/>
          </a:xfrm>
          <a:prstGeom prst="rect">
            <a:avLst/>
          </a:prstGeom>
          <a:noFill/>
          <a:ln/>
        </p:spPr>
        <p:txBody>
          <a:bodyPr wrap="square" lIns="0" tIns="0" rIns="0" bIns="0" rtlCol="0" anchor="ctr"/>
          <a:lstStyle/>
          <a:p>
            <a:pPr indent="0" marL="0">
              <a:buNone/>
            </a:pPr>
            <a:r>
              <a:rPr lang="en-US" sz="1500" b="1" dirty="0">
                <a:solidFill>
                  <a:srgbClr val="0B1120"/>
                </a:solidFill>
                <a:latin typeface="Arial" pitchFamily="34" charset="0"/>
                <a:ea typeface="Arial" pitchFamily="34" charset="-122"/>
                <a:cs typeface="Arial" pitchFamily="34" charset="-120"/>
              </a:rPr>
              <a:t>Four more findings were correct — and we still declined them</a:t>
            </a:r>
            <a:endParaRPr lang="en-US" sz="1500" dirty="0"/>
          </a:p>
        </p:txBody>
      </p:sp>
      <p:sp>
        <p:nvSpPr>
          <p:cNvPr id="17" name="Text 14"/>
          <p:cNvSpPr txBox="1"/>
          <p:nvPr/>
        </p:nvSpPr>
        <p:spPr>
          <a:xfrm>
            <a:off x="1005840" y="4828032"/>
            <a:ext cx="4937760" cy="237744"/>
          </a:xfrm>
          <a:prstGeom prst="rect">
            <a:avLst/>
          </a:prstGeom>
          <a:noFill/>
          <a:ln/>
        </p:spPr>
        <p:txBody>
          <a:bodyPr wrap="square" lIns="0" tIns="0" rIns="0" bIns="0" rtlCol="0" anchor="ctr"/>
          <a:lstStyle/>
          <a:p>
            <a:pPr indent="0" marL="0">
              <a:buNone/>
            </a:pPr>
            <a:r>
              <a:rPr lang="en-US" sz="1250" b="1" dirty="0">
                <a:solidFill>
                  <a:srgbClr val="334155"/>
                </a:solidFill>
                <a:latin typeface="Calibri" pitchFamily="34" charset="0"/>
                <a:ea typeface="Calibri" pitchFamily="34" charset="-122"/>
                <a:cs typeface="Calibri" pitchFamily="34" charset="-120"/>
              </a:rPr>
              <a:t>Add authentication</a:t>
            </a:r>
            <a:endParaRPr lang="en-US" sz="1250" dirty="0"/>
          </a:p>
        </p:txBody>
      </p:sp>
      <p:sp>
        <p:nvSpPr>
          <p:cNvPr id="18" name="Text 15"/>
          <p:cNvSpPr txBox="1"/>
          <p:nvPr/>
        </p:nvSpPr>
        <p:spPr>
          <a:xfrm>
            <a:off x="1005840" y="5065776"/>
            <a:ext cx="4937760" cy="365760"/>
          </a:xfrm>
          <a:prstGeom prst="rect">
            <a:avLst/>
          </a:prstGeom>
          <a:noFill/>
          <a:ln/>
        </p:spPr>
        <p:txBody>
          <a:bodyPr wrap="square" lIns="0" tIns="0" rIns="0" bIns="0" rtlCol="0" anchor="t"/>
          <a:lstStyle/>
          <a:p>
            <a:pPr algn="l" indent="0" marL="0">
              <a:lnSpc>
                <a:spcPts val="1500"/>
              </a:lnSpc>
              <a:buNone/>
            </a:pPr>
            <a:r>
              <a:rPr lang="en-US" sz="1150" dirty="0">
                <a:solidFill>
                  <a:srgbClr val="64748B"/>
                </a:solidFill>
                <a:latin typeface="Calibri" pitchFamily="34" charset="0"/>
                <a:ea typeface="Calibri" pitchFamily="34" charset="-122"/>
                <a:cs typeface="Calibri" pitchFamily="34" charset="-120"/>
              </a:rPr>
              <a:t>Single-user local app by design. Mitigated by loopback binding instead.</a:t>
            </a:r>
            <a:endParaRPr lang="en-US" sz="1150" dirty="0"/>
          </a:p>
        </p:txBody>
      </p:sp>
      <p:sp>
        <p:nvSpPr>
          <p:cNvPr id="19" name="Text 16"/>
          <p:cNvSpPr txBox="1"/>
          <p:nvPr/>
        </p:nvSpPr>
        <p:spPr>
          <a:xfrm>
            <a:off x="6263640" y="4828032"/>
            <a:ext cx="4937760" cy="237744"/>
          </a:xfrm>
          <a:prstGeom prst="rect">
            <a:avLst/>
          </a:prstGeom>
          <a:noFill/>
          <a:ln/>
        </p:spPr>
        <p:txBody>
          <a:bodyPr wrap="square" lIns="0" tIns="0" rIns="0" bIns="0" rtlCol="0" anchor="ctr"/>
          <a:lstStyle/>
          <a:p>
            <a:pPr indent="0" marL="0">
              <a:buNone/>
            </a:pPr>
            <a:r>
              <a:rPr lang="en-US" sz="1250" b="1" dirty="0">
                <a:solidFill>
                  <a:srgbClr val="334155"/>
                </a:solidFill>
                <a:latin typeface="Calibri" pitchFamily="34" charset="0"/>
                <a:ea typeface="Calibri" pitchFamily="34" charset="-122"/>
                <a:cs typeface="Calibri" pitchFamily="34" charset="-120"/>
              </a:rPr>
              <a:t>Split app.py into modules</a:t>
            </a:r>
            <a:endParaRPr lang="en-US" sz="1250" dirty="0"/>
          </a:p>
        </p:txBody>
      </p:sp>
      <p:sp>
        <p:nvSpPr>
          <p:cNvPr id="20" name="Text 17"/>
          <p:cNvSpPr txBox="1"/>
          <p:nvPr/>
        </p:nvSpPr>
        <p:spPr>
          <a:xfrm>
            <a:off x="6263640" y="5065776"/>
            <a:ext cx="4937760" cy="365760"/>
          </a:xfrm>
          <a:prstGeom prst="rect">
            <a:avLst/>
          </a:prstGeom>
          <a:noFill/>
          <a:ln/>
        </p:spPr>
        <p:txBody>
          <a:bodyPr wrap="square" lIns="0" tIns="0" rIns="0" bIns="0" rtlCol="0" anchor="t"/>
          <a:lstStyle/>
          <a:p>
            <a:pPr algn="l" indent="0" marL="0">
              <a:lnSpc>
                <a:spcPts val="1500"/>
              </a:lnSpc>
              <a:buNone/>
            </a:pPr>
            <a:r>
              <a:rPr lang="en-US" sz="1150" dirty="0">
                <a:solidFill>
                  <a:srgbClr val="64748B"/>
                </a:solidFill>
                <a:latin typeface="Calibri" pitchFamily="34" charset="0"/>
                <a:ea typeface="Calibri" pitchFamily="34" charset="-122"/>
                <a:cs typeface="Calibri" pitchFamily="34" charset="-120"/>
              </a:rPr>
              <a:t>Correct advice, wrong moment. The file was already under 80 passing tests.</a:t>
            </a:r>
            <a:endParaRPr lang="en-US" sz="1150" dirty="0"/>
          </a:p>
        </p:txBody>
      </p:sp>
      <p:sp>
        <p:nvSpPr>
          <p:cNvPr id="21" name="Text 18"/>
          <p:cNvSpPr txBox="1"/>
          <p:nvPr/>
        </p:nvSpPr>
        <p:spPr>
          <a:xfrm>
            <a:off x="1005840" y="5486400"/>
            <a:ext cx="4937760" cy="237744"/>
          </a:xfrm>
          <a:prstGeom prst="rect">
            <a:avLst/>
          </a:prstGeom>
          <a:noFill/>
          <a:ln/>
        </p:spPr>
        <p:txBody>
          <a:bodyPr wrap="square" lIns="0" tIns="0" rIns="0" bIns="0" rtlCol="0" anchor="ctr"/>
          <a:lstStyle/>
          <a:p>
            <a:pPr indent="0" marL="0">
              <a:buNone/>
            </a:pPr>
            <a:r>
              <a:rPr lang="en-US" sz="1250" b="1" dirty="0">
                <a:solidFill>
                  <a:srgbClr val="334155"/>
                </a:solidFill>
                <a:latin typeface="Calibri" pitchFamily="34" charset="0"/>
                <a:ea typeface="Calibri" pitchFamily="34" charset="-122"/>
                <a:cs typeface="Calibri" pitchFamily="34" charset="-120"/>
              </a:rPr>
              <a:t>Replace the intent router</a:t>
            </a:r>
            <a:endParaRPr lang="en-US" sz="1250" dirty="0"/>
          </a:p>
        </p:txBody>
      </p:sp>
      <p:sp>
        <p:nvSpPr>
          <p:cNvPr id="22" name="Text 19"/>
          <p:cNvSpPr txBox="1"/>
          <p:nvPr/>
        </p:nvSpPr>
        <p:spPr>
          <a:xfrm>
            <a:off x="1005840" y="5724144"/>
            <a:ext cx="4937760" cy="365760"/>
          </a:xfrm>
          <a:prstGeom prst="rect">
            <a:avLst/>
          </a:prstGeom>
          <a:noFill/>
          <a:ln/>
        </p:spPr>
        <p:txBody>
          <a:bodyPr wrap="square" lIns="0" tIns="0" rIns="0" bIns="0" rtlCol="0" anchor="t"/>
          <a:lstStyle/>
          <a:p>
            <a:pPr algn="l" indent="0" marL="0">
              <a:lnSpc>
                <a:spcPts val="1500"/>
              </a:lnSpc>
              <a:buNone/>
            </a:pPr>
            <a:r>
              <a:rPr lang="en-US" sz="1150" dirty="0">
                <a:solidFill>
                  <a:srgbClr val="64748B"/>
                </a:solidFill>
                <a:latin typeface="Calibri" pitchFamily="34" charset="0"/>
                <a:ea typeface="Calibri" pitchFamily="34" charset="-122"/>
                <a:cs typeface="Calibri" pitchFamily="34" charset="-120"/>
              </a:rPr>
              <a:t>A better design, but swapping it hours before a deadline risks the demo.</a:t>
            </a:r>
            <a:endParaRPr lang="en-US" sz="1150" dirty="0"/>
          </a:p>
        </p:txBody>
      </p:sp>
      <p:sp>
        <p:nvSpPr>
          <p:cNvPr id="23" name="Text 20"/>
          <p:cNvSpPr txBox="1"/>
          <p:nvPr/>
        </p:nvSpPr>
        <p:spPr>
          <a:xfrm>
            <a:off x="6263640" y="5486400"/>
            <a:ext cx="4937760" cy="237744"/>
          </a:xfrm>
          <a:prstGeom prst="rect">
            <a:avLst/>
          </a:prstGeom>
          <a:noFill/>
          <a:ln/>
        </p:spPr>
        <p:txBody>
          <a:bodyPr wrap="square" lIns="0" tIns="0" rIns="0" bIns="0" rtlCol="0" anchor="ctr"/>
          <a:lstStyle/>
          <a:p>
            <a:pPr indent="0" marL="0">
              <a:buNone/>
            </a:pPr>
            <a:r>
              <a:rPr lang="en-US" sz="1250" b="1" dirty="0">
                <a:solidFill>
                  <a:srgbClr val="334155"/>
                </a:solidFill>
                <a:latin typeface="Calibri" pitchFamily="34" charset="0"/>
                <a:ea typeface="Calibri" pitchFamily="34" charset="-122"/>
                <a:cs typeface="Calibri" pitchFamily="34" charset="-120"/>
              </a:rPr>
              <a:t>Move the uploads folder</a:t>
            </a:r>
            <a:endParaRPr lang="en-US" sz="1250" dirty="0"/>
          </a:p>
        </p:txBody>
      </p:sp>
      <p:sp>
        <p:nvSpPr>
          <p:cNvPr id="24" name="Text 21"/>
          <p:cNvSpPr txBox="1"/>
          <p:nvPr/>
        </p:nvSpPr>
        <p:spPr>
          <a:xfrm>
            <a:off x="6263640" y="5724144"/>
            <a:ext cx="4937760" cy="365760"/>
          </a:xfrm>
          <a:prstGeom prst="rect">
            <a:avLst/>
          </a:prstGeom>
          <a:noFill/>
          <a:ln/>
        </p:spPr>
        <p:txBody>
          <a:bodyPr wrap="square" lIns="0" tIns="0" rIns="0" bIns="0" rtlCol="0" anchor="t"/>
          <a:lstStyle/>
          <a:p>
            <a:pPr algn="l" indent="0" marL="0">
              <a:lnSpc>
                <a:spcPts val="1500"/>
              </a:lnSpc>
              <a:buNone/>
            </a:pPr>
            <a:r>
              <a:rPr lang="en-US" sz="1150" dirty="0">
                <a:solidFill>
                  <a:srgbClr val="64748B"/>
                </a:solidFill>
                <a:latin typeface="Calibri" pitchFamily="34" charset="0"/>
                <a:ea typeface="Calibri" pitchFamily="34" charset="-122"/>
                <a:cs typeface="Calibri" pitchFamily="34" charset="-120"/>
              </a:rPr>
              <a:t>Needs a misconfigured proxy that does not exist in our deployment.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85800" y="256032"/>
            <a:ext cx="10789920" cy="274320"/>
          </a:xfrm>
          <a:prstGeom prst="rect">
            <a:avLst/>
          </a:prstGeom>
          <a:noFill/>
          <a:ln/>
        </p:spPr>
        <p:txBody>
          <a:bodyPr wrap="square" lIns="0" tIns="0" rIns="0" bIns="0" rtlCol="0" anchor="ctr"/>
          <a:lstStyle/>
          <a:p>
            <a:pPr indent="0" marL="0">
              <a:buNone/>
            </a:pPr>
            <a:r>
              <a:rPr lang="en-US" sz="1150" b="1" spc="200" kern="0" dirty="0">
                <a:solidFill>
                  <a:srgbClr val="14B8A6"/>
                </a:solidFill>
                <a:latin typeface="Calibri" pitchFamily="34" charset="0"/>
                <a:ea typeface="Calibri" pitchFamily="34" charset="-122"/>
                <a:cs typeface="Calibri" pitchFamily="34" charset="-120"/>
              </a:rPr>
              <a:t>PROOF</a:t>
            </a:r>
            <a:endParaRPr lang="en-US" sz="1150" dirty="0"/>
          </a:p>
        </p:txBody>
      </p:sp>
      <p:sp>
        <p:nvSpPr>
          <p:cNvPr id="4" name="Text 1"/>
          <p:cNvSpPr txBox="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You can clone it and run this yourself</a:t>
            </a:r>
            <a:endParaRPr lang="en-US" sz="3200" dirty="0"/>
          </a:p>
        </p:txBody>
      </p:sp>
      <p:pic>
        <p:nvPicPr>
          <p:cNvPr id="5" name="Image 0" descr="img/s-tests.jpg">    </p:cNvPr>
          <p:cNvPicPr>
            <a:picLocks noChangeAspect="1"/>
          </p:cNvPicPr>
          <p:nvPr/>
        </p:nvPicPr>
        <p:blipFill>
          <a:blip r:embed="rId2"/>
          <a:stretch>
            <a:fillRect/>
          </a:stretch>
        </p:blipFill>
        <p:spPr>
          <a:xfrm>
            <a:off x="685800" y="1600200"/>
            <a:ext cx="6309360" cy="1399032"/>
          </a:xfrm>
          <a:prstGeom prst="rect">
            <a:avLst/>
          </a:prstGeom>
          <a:effectLst>
            <a:outerShdw sx="100000" sy="100000" kx="0" ky="0" algn="bl" rotWithShape="0" blurRad="228600" dist="50800" dir="5400000">
              <a:srgbClr val="000000">
                <a:alpha val="18000"/>
              </a:srgbClr>
            </a:outerShdw>
          </a:effectLst>
        </p:spPr>
      </p:pic>
      <p:sp>
        <p:nvSpPr>
          <p:cNvPr id="6" name="Text 2"/>
          <p:cNvSpPr txBox="1"/>
          <p:nvPr/>
        </p:nvSpPr>
        <p:spPr>
          <a:xfrm>
            <a:off x="685800" y="3182112"/>
            <a:ext cx="6309360" cy="365760"/>
          </a:xfrm>
          <a:prstGeom prst="rect">
            <a:avLst/>
          </a:prstGeom>
          <a:noFill/>
          <a:ln/>
        </p:spPr>
        <p:txBody>
          <a:bodyPr wrap="square" lIns="0" tIns="0" rIns="0" bIns="0" rtlCol="0" anchor="t"/>
          <a:lstStyle/>
          <a:p>
            <a:pPr algn="l" indent="0" marL="0">
              <a:lnSpc>
                <a:spcPts val="2100"/>
              </a:lnSpc>
              <a:buNone/>
            </a:pPr>
            <a:r>
              <a:rPr lang="en-US" sz="1200" dirty="0">
                <a:solidFill>
                  <a:srgbClr val="93A3BC"/>
                </a:solidFill>
                <a:latin typeface="Calibri" pitchFamily="34" charset="0"/>
                <a:ea typeface="Calibri" pitchFamily="34" charset="-122"/>
                <a:cs typeface="Calibri" pitchFamily="34" charset="-120"/>
              </a:rPr>
              <a:t>The suite IBM Bob wrote in Agent mode, re-run after we changed the function it covers.</a:t>
            </a:r>
            <a:endParaRPr lang="en-US" sz="1200" dirty="0"/>
          </a:p>
        </p:txBody>
      </p:sp>
      <p:sp>
        <p:nvSpPr>
          <p:cNvPr id="7" name="Shape 3"/>
          <p:cNvSpPr/>
          <p:nvPr/>
        </p:nvSpPr>
        <p:spPr>
          <a:xfrm>
            <a:off x="7315200" y="1600200"/>
            <a:ext cx="4160520" cy="841248"/>
          </a:xfrm>
          <a:prstGeom prst="roundRect">
            <a:avLst>
              <a:gd name="adj" fmla="val 10870"/>
            </a:avLst>
          </a:prstGeom>
          <a:solidFill>
            <a:srgbClr val="18213A"/>
          </a:solidFill>
          <a:ln w="12700">
            <a:solidFill>
              <a:srgbClr val="2E4270"/>
            </a:solidFill>
            <a:prstDash val="solid"/>
          </a:ln>
        </p:spPr>
      </p:sp>
      <p:sp>
        <p:nvSpPr>
          <p:cNvPr id="8" name="Text 4"/>
          <p:cNvSpPr txBox="1"/>
          <p:nvPr/>
        </p:nvSpPr>
        <p:spPr>
          <a:xfrm>
            <a:off x="7589520" y="1746504"/>
            <a:ext cx="1234440" cy="548640"/>
          </a:xfrm>
          <a:prstGeom prst="rect">
            <a:avLst/>
          </a:prstGeom>
          <a:noFill/>
          <a:ln/>
        </p:spPr>
        <p:txBody>
          <a:bodyPr wrap="square" lIns="0" tIns="0" rIns="0" bIns="0" rtlCol="0" anchor="ctr"/>
          <a:lstStyle/>
          <a:p>
            <a:pPr indent="0" marL="0">
              <a:buNone/>
            </a:pPr>
            <a:r>
              <a:rPr lang="en-US" sz="2400" b="1" dirty="0">
                <a:solidFill>
                  <a:srgbClr val="14B8A6"/>
                </a:solidFill>
                <a:latin typeface="Arial" pitchFamily="34" charset="0"/>
                <a:ea typeface="Arial" pitchFamily="34" charset="-122"/>
                <a:cs typeface="Arial" pitchFamily="34" charset="-120"/>
              </a:rPr>
              <a:t>80/80</a:t>
            </a:r>
            <a:endParaRPr lang="en-US" sz="2400" dirty="0"/>
          </a:p>
        </p:txBody>
      </p:sp>
      <p:sp>
        <p:nvSpPr>
          <p:cNvPr id="9" name="Text 5"/>
          <p:cNvSpPr txBox="1"/>
          <p:nvPr/>
        </p:nvSpPr>
        <p:spPr>
          <a:xfrm>
            <a:off x="8915400" y="1728216"/>
            <a:ext cx="2377440" cy="594360"/>
          </a:xfrm>
          <a:prstGeom prst="rect">
            <a:avLst/>
          </a:prstGeom>
          <a:noFill/>
          <a:ln/>
        </p:spPr>
        <p:txBody>
          <a:bodyPr wrap="square" lIns="0" tIns="0" rIns="0" bIns="0" rtlCol="0" anchor="ctr"/>
          <a:lstStyle/>
          <a:p>
            <a:pPr algn="l" indent="0" marL="0">
              <a:lnSpc>
                <a:spcPts val="1450"/>
              </a:lnSpc>
              <a:buNone/>
            </a:pPr>
            <a:r>
              <a:rPr lang="en-US" sz="1100" dirty="0">
                <a:solidFill>
                  <a:srgbClr val="B6C2D9"/>
                </a:solidFill>
                <a:latin typeface="Calibri" pitchFamily="34" charset="0"/>
                <a:ea typeface="Calibri" pitchFamily="34" charset="-122"/>
                <a:cs typeface="Calibri" pitchFamily="34" charset="-120"/>
              </a:rPr>
              <a:t>tests passing, re-run after the code they cover was changed</a:t>
            </a:r>
            <a:endParaRPr lang="en-US" sz="1100" dirty="0"/>
          </a:p>
        </p:txBody>
      </p:sp>
      <p:sp>
        <p:nvSpPr>
          <p:cNvPr id="10" name="Shape 6"/>
          <p:cNvSpPr/>
          <p:nvPr/>
        </p:nvSpPr>
        <p:spPr>
          <a:xfrm>
            <a:off x="7315200" y="2587752"/>
            <a:ext cx="4160520" cy="841248"/>
          </a:xfrm>
          <a:prstGeom prst="roundRect">
            <a:avLst>
              <a:gd name="adj" fmla="val 10870"/>
            </a:avLst>
          </a:prstGeom>
          <a:solidFill>
            <a:srgbClr val="18213A"/>
          </a:solidFill>
          <a:ln w="12700">
            <a:solidFill>
              <a:srgbClr val="2E4270"/>
            </a:solidFill>
            <a:prstDash val="solid"/>
          </a:ln>
        </p:spPr>
      </p:sp>
      <p:sp>
        <p:nvSpPr>
          <p:cNvPr id="11" name="Text 7"/>
          <p:cNvSpPr txBox="1"/>
          <p:nvPr/>
        </p:nvSpPr>
        <p:spPr>
          <a:xfrm>
            <a:off x="7589520" y="2734056"/>
            <a:ext cx="1234440" cy="548640"/>
          </a:xfrm>
          <a:prstGeom prst="rect">
            <a:avLst/>
          </a:prstGeom>
          <a:noFill/>
          <a:ln/>
        </p:spPr>
        <p:txBody>
          <a:bodyPr wrap="square" lIns="0" tIns="0" rIns="0" bIns="0" rtlCol="0" anchor="ctr"/>
          <a:lstStyle/>
          <a:p>
            <a:pPr indent="0" marL="0">
              <a:buNone/>
            </a:pPr>
            <a:r>
              <a:rPr lang="en-US" sz="2400" b="1" dirty="0">
                <a:solidFill>
                  <a:srgbClr val="3B82F6"/>
                </a:solidFill>
                <a:latin typeface="Arial" pitchFamily="34" charset="0"/>
                <a:ea typeface="Arial" pitchFamily="34" charset="-122"/>
                <a:cs typeface="Arial" pitchFamily="34" charset="-120"/>
              </a:rPr>
              <a:t>13</a:t>
            </a:r>
            <a:endParaRPr lang="en-US" sz="2400" dirty="0"/>
          </a:p>
        </p:txBody>
      </p:sp>
      <p:sp>
        <p:nvSpPr>
          <p:cNvPr id="12" name="Text 8"/>
          <p:cNvSpPr txBox="1"/>
          <p:nvPr/>
        </p:nvSpPr>
        <p:spPr>
          <a:xfrm>
            <a:off x="8915400" y="2715768"/>
            <a:ext cx="2377440" cy="594360"/>
          </a:xfrm>
          <a:prstGeom prst="rect">
            <a:avLst/>
          </a:prstGeom>
          <a:noFill/>
          <a:ln/>
        </p:spPr>
        <p:txBody>
          <a:bodyPr wrap="square" lIns="0" tIns="0" rIns="0" bIns="0" rtlCol="0" anchor="ctr"/>
          <a:lstStyle/>
          <a:p>
            <a:pPr algn="l" indent="0" marL="0">
              <a:lnSpc>
                <a:spcPts val="1450"/>
              </a:lnSpc>
              <a:buNone/>
            </a:pPr>
            <a:r>
              <a:rPr lang="en-US" sz="1100" dirty="0">
                <a:solidFill>
                  <a:srgbClr val="B6C2D9"/>
                </a:solidFill>
                <a:latin typeface="Calibri" pitchFamily="34" charset="0"/>
                <a:ea typeface="Calibri" pitchFamily="34" charset="-122"/>
                <a:cs typeface="Calibri" pitchFamily="34" charset="-120"/>
              </a:rPr>
              <a:t>REST endpoints, each documented with real captured responses</a:t>
            </a:r>
            <a:endParaRPr lang="en-US" sz="1100" dirty="0"/>
          </a:p>
        </p:txBody>
      </p:sp>
      <p:sp>
        <p:nvSpPr>
          <p:cNvPr id="13" name="Shape 9"/>
          <p:cNvSpPr/>
          <p:nvPr/>
        </p:nvSpPr>
        <p:spPr>
          <a:xfrm>
            <a:off x="7315200" y="3575304"/>
            <a:ext cx="4160520" cy="841248"/>
          </a:xfrm>
          <a:prstGeom prst="roundRect">
            <a:avLst>
              <a:gd name="adj" fmla="val 10870"/>
            </a:avLst>
          </a:prstGeom>
          <a:solidFill>
            <a:srgbClr val="18213A"/>
          </a:solidFill>
          <a:ln w="12700">
            <a:solidFill>
              <a:srgbClr val="2E4270"/>
            </a:solidFill>
            <a:prstDash val="solid"/>
          </a:ln>
        </p:spPr>
      </p:sp>
      <p:sp>
        <p:nvSpPr>
          <p:cNvPr id="14" name="Text 10"/>
          <p:cNvSpPr txBox="1"/>
          <p:nvPr/>
        </p:nvSpPr>
        <p:spPr>
          <a:xfrm>
            <a:off x="7589520" y="3721608"/>
            <a:ext cx="1234440" cy="548640"/>
          </a:xfrm>
          <a:prstGeom prst="rect">
            <a:avLst/>
          </a:prstGeom>
          <a:noFill/>
          <a:ln/>
        </p:spPr>
        <p:txBody>
          <a:bodyPr wrap="square" lIns="0" tIns="0" rIns="0" bIns="0" rtlCol="0" anchor="ctr"/>
          <a:lstStyle/>
          <a:p>
            <a:pPr indent="0" marL="0">
              <a:buNone/>
            </a:pPr>
            <a:r>
              <a:rPr lang="en-US" sz="2400" b="1" dirty="0">
                <a:solidFill>
                  <a:srgbClr val="8B5CF6"/>
                </a:solidFill>
                <a:latin typeface="Arial" pitchFamily="34" charset="0"/>
                <a:ea typeface="Arial" pitchFamily="34" charset="-122"/>
                <a:cs typeface="Arial" pitchFamily="34" charset="-120"/>
              </a:rPr>
              <a:t>0</a:t>
            </a:r>
            <a:endParaRPr lang="en-US" sz="2400" dirty="0"/>
          </a:p>
        </p:txBody>
      </p:sp>
      <p:sp>
        <p:nvSpPr>
          <p:cNvPr id="15" name="Text 11"/>
          <p:cNvSpPr txBox="1"/>
          <p:nvPr/>
        </p:nvSpPr>
        <p:spPr>
          <a:xfrm>
            <a:off x="8915400" y="3703320"/>
            <a:ext cx="2377440" cy="594360"/>
          </a:xfrm>
          <a:prstGeom prst="rect">
            <a:avLst/>
          </a:prstGeom>
          <a:noFill/>
          <a:ln/>
        </p:spPr>
        <p:txBody>
          <a:bodyPr wrap="square" lIns="0" tIns="0" rIns="0" bIns="0" rtlCol="0" anchor="ctr"/>
          <a:lstStyle/>
          <a:p>
            <a:pPr algn="l" indent="0" marL="0">
              <a:lnSpc>
                <a:spcPts val="1450"/>
              </a:lnSpc>
              <a:buNone/>
            </a:pPr>
            <a:r>
              <a:rPr lang="en-US" sz="1100" dirty="0">
                <a:solidFill>
                  <a:srgbClr val="B6C2D9"/>
                </a:solidFill>
                <a:latin typeface="Calibri" pitchFamily="34" charset="0"/>
                <a:ea typeface="Calibri" pitchFamily="34" charset="-122"/>
                <a:cs typeface="Calibri" pitchFamily="34" charset="-120"/>
              </a:rPr>
              <a:t>console errors, 4xx or 5xx responses in a full browser pass</a:t>
            </a:r>
            <a:endParaRPr lang="en-US" sz="1100" dirty="0"/>
          </a:p>
        </p:txBody>
      </p:sp>
      <p:sp>
        <p:nvSpPr>
          <p:cNvPr id="16" name="Shape 12"/>
          <p:cNvSpPr/>
          <p:nvPr/>
        </p:nvSpPr>
        <p:spPr>
          <a:xfrm>
            <a:off x="685800" y="4709160"/>
            <a:ext cx="10789920" cy="1417320"/>
          </a:xfrm>
          <a:prstGeom prst="roundRect">
            <a:avLst>
              <a:gd name="adj" fmla="val 10323"/>
            </a:avLst>
          </a:prstGeom>
          <a:solidFill>
            <a:srgbClr val="0A1628"/>
          </a:solidFill>
          <a:ln w="12700">
            <a:solidFill>
              <a:srgbClr val="1E3A5F"/>
            </a:solidFill>
            <a:prstDash val="solid"/>
          </a:ln>
          <a:effectLst>
            <a:outerShdw sx="100000" sy="100000" kx="0" ky="0" algn="bl" rotWithShape="0" blurRad="228600" dist="50800" dir="5400000">
              <a:srgbClr val="000000">
                <a:alpha val="18000"/>
              </a:srgbClr>
            </a:outerShdw>
          </a:effectLst>
        </p:spPr>
      </p:sp>
      <p:sp>
        <p:nvSpPr>
          <p:cNvPr id="17" name="Text 13"/>
          <p:cNvSpPr txBox="1"/>
          <p:nvPr/>
        </p:nvSpPr>
        <p:spPr>
          <a:xfrm>
            <a:off x="1005840" y="4892040"/>
            <a:ext cx="3657600" cy="274320"/>
          </a:xfrm>
          <a:prstGeom prst="rect">
            <a:avLst/>
          </a:prstGeom>
          <a:noFill/>
          <a:ln/>
        </p:spPr>
        <p:txBody>
          <a:bodyPr wrap="square" lIns="0" tIns="0" rIns="0" bIns="0" rtlCol="0" anchor="ctr"/>
          <a:lstStyle/>
          <a:p>
            <a:pPr indent="0" marL="0">
              <a:buNone/>
            </a:pPr>
            <a:r>
              <a:rPr lang="en-US" sz="1100" b="1" spc="140" kern="0" dirty="0">
                <a:solidFill>
                  <a:srgbClr val="F59E0B"/>
                </a:solidFill>
                <a:latin typeface="Calibri" pitchFamily="34" charset="0"/>
                <a:ea typeface="Calibri" pitchFamily="34" charset="-122"/>
                <a:cs typeface="Calibri" pitchFamily="34" charset="-120"/>
              </a:rPr>
              <a:t>Also in the repository</a:t>
            </a:r>
            <a:endParaRPr lang="en-US" sz="1100" dirty="0"/>
          </a:p>
        </p:txBody>
      </p:sp>
      <p:sp>
        <p:nvSpPr>
          <p:cNvPr id="18" name="Text 14"/>
          <p:cNvSpPr txBox="1"/>
          <p:nvPr/>
        </p:nvSpPr>
        <p:spPr>
          <a:xfrm>
            <a:off x="1005840" y="5230368"/>
            <a:ext cx="10149840" cy="731520"/>
          </a:xfrm>
          <a:prstGeom prst="rect">
            <a:avLst/>
          </a:prstGeom>
          <a:noFill/>
          <a:ln/>
        </p:spPr>
        <p:txBody>
          <a:bodyPr wrap="square" lIns="0" tIns="0" rIns="0" bIns="0" rtlCol="0" anchor="t"/>
          <a:lstStyle/>
          <a:p>
            <a:pPr algn="l" indent="0" marL="0">
              <a:lnSpc>
                <a:spcPts val="1900"/>
              </a:lnSpc>
              <a:buNone/>
            </a:pPr>
            <a:r>
              <a:rPr lang="en-US" sz="1300" dirty="0">
                <a:solidFill>
                  <a:srgbClr val="E2E8F0"/>
                </a:solidFill>
                <a:latin typeface="Calibri" pitchFamily="34" charset="0"/>
                <a:ea typeface="Calibri" pitchFamily="34" charset="-122"/>
                <a:cs typeface="Calibri" pitchFamily="34" charset="-120"/>
              </a:rPr>
              <a:t>Nine IBM Bob session transcripts with outcomes  ·  full API documentation  ·  architecture document with the trade-offs stated  ·  a README that lists what the system does not do</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85800" y="256032"/>
            <a:ext cx="10789920" cy="274320"/>
          </a:xfrm>
          <a:prstGeom prst="rect">
            <a:avLst/>
          </a:prstGeom>
          <a:noFill/>
          <a:ln/>
        </p:spPr>
        <p:txBody>
          <a:bodyPr wrap="square" lIns="0" tIns="0" rIns="0" bIns="0" rtlCol="0" anchor="ctr"/>
          <a:lstStyle/>
          <a:p>
            <a:pPr indent="0" marL="0">
              <a:buNone/>
            </a:pPr>
            <a:r>
              <a:rPr lang="en-US" sz="1150" b="1" spc="200" kern="0" dirty="0">
                <a:solidFill>
                  <a:srgbClr val="334155"/>
                </a:solidFill>
                <a:latin typeface="Calibri" pitchFamily="34" charset="0"/>
                <a:ea typeface="Calibri" pitchFamily="34" charset="-122"/>
                <a:cs typeface="Calibri" pitchFamily="34" charset="-120"/>
              </a:rPr>
              <a:t>HONESTY</a:t>
            </a:r>
            <a:endParaRPr lang="en-US" sz="1150" dirty="0"/>
          </a:p>
        </p:txBody>
      </p:sp>
      <p:sp>
        <p:nvSpPr>
          <p:cNvPr id="4" name="Text 1"/>
          <p:cNvSpPr txBox="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rgbClr val="0B1120"/>
                </a:solidFill>
                <a:latin typeface="Arial" pitchFamily="34" charset="0"/>
                <a:ea typeface="Arial" pitchFamily="34" charset="-122"/>
                <a:cs typeface="Arial" pitchFamily="34" charset="-120"/>
              </a:rPr>
              <a:t>What Health Journey does not claim</a:t>
            </a:r>
            <a:endParaRPr lang="en-US" sz="3200" dirty="0"/>
          </a:p>
        </p:txBody>
      </p:sp>
      <p:sp>
        <p:nvSpPr>
          <p:cNvPr id="5" name="Shape 2"/>
          <p:cNvSpPr/>
          <p:nvPr/>
        </p:nvSpPr>
        <p:spPr>
          <a:xfrm>
            <a:off x="685800" y="1645920"/>
            <a:ext cx="5257800" cy="1691640"/>
          </a:xfrm>
          <a:prstGeom prst="roundRect">
            <a:avLst>
              <a:gd name="adj" fmla="val 8649"/>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6" name="Shape 3"/>
          <p:cNvSpPr/>
          <p:nvPr/>
        </p:nvSpPr>
        <p:spPr>
          <a:xfrm>
            <a:off x="1005840" y="1920240"/>
            <a:ext cx="438912" cy="438912"/>
          </a:xfrm>
          <a:prstGeom prst="ellipse">
            <a:avLst/>
          </a:prstGeom>
          <a:solidFill>
            <a:srgbClr val="334155"/>
          </a:solidFill>
          <a:ln/>
        </p:spPr>
      </p:sp>
      <p:sp>
        <p:nvSpPr>
          <p:cNvPr id="7" name="Text 4"/>
          <p:cNvSpPr txBox="1"/>
          <p:nvPr/>
        </p:nvSpPr>
        <p:spPr>
          <a:xfrm>
            <a:off x="1005840" y="19202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8" name="Text 5"/>
          <p:cNvSpPr txBox="1"/>
          <p:nvPr/>
        </p:nvSpPr>
        <p:spPr>
          <a:xfrm>
            <a:off x="1600200" y="1947672"/>
            <a:ext cx="4114800" cy="292608"/>
          </a:xfrm>
          <a:prstGeom prst="rect">
            <a:avLst/>
          </a:prstGeom>
          <a:noFill/>
          <a:ln/>
        </p:spPr>
        <p:txBody>
          <a:bodyPr wrap="square" lIns="0" tIns="0" rIns="0" bIns="0" rtlCol="0" anchor="ctr"/>
          <a:lstStyle/>
          <a:p>
            <a:pPr indent="0" marL="0">
              <a:buNone/>
            </a:pPr>
            <a:r>
              <a:rPr lang="en-US" sz="1450" b="1" dirty="0">
                <a:solidFill>
                  <a:srgbClr val="0B1120"/>
                </a:solidFill>
                <a:latin typeface="Arial" pitchFamily="34" charset="0"/>
                <a:ea typeface="Arial" pitchFamily="34" charset="-122"/>
                <a:cs typeface="Arial" pitchFamily="34" charset="-120"/>
              </a:rPr>
              <a:t>It is not encrypted at rest</a:t>
            </a:r>
            <a:endParaRPr lang="en-US" sz="1450" dirty="0"/>
          </a:p>
        </p:txBody>
      </p:sp>
      <p:sp>
        <p:nvSpPr>
          <p:cNvPr id="9" name="Text 6"/>
          <p:cNvSpPr txBox="1"/>
          <p:nvPr/>
        </p:nvSpPr>
        <p:spPr>
          <a:xfrm>
            <a:off x="1005840" y="2468880"/>
            <a:ext cx="4617720" cy="777240"/>
          </a:xfrm>
          <a:prstGeom prst="rect">
            <a:avLst/>
          </a:prstGeom>
          <a:noFill/>
          <a:ln/>
        </p:spPr>
        <p:txBody>
          <a:bodyPr wrap="square" lIns="0" tIns="0" rIns="0" bIns="0" rtlCol="0" anchor="t"/>
          <a:lstStyle/>
          <a:p>
            <a:pPr algn="l" indent="0" marL="0">
              <a:lnSpc>
                <a:spcPts val="1700"/>
              </a:lnSpc>
              <a:buNone/>
            </a:pPr>
            <a:r>
              <a:rPr lang="en-US" sz="1250" dirty="0">
                <a:solidFill>
                  <a:srgbClr val="475569"/>
                </a:solidFill>
                <a:latin typeface="Calibri" pitchFamily="34" charset="0"/>
                <a:ea typeface="Calibri" pitchFamily="34" charset="-122"/>
                <a:cs typeface="Calibri" pitchFamily="34" charset="-120"/>
              </a:rPr>
              <a:t>The record sits in a plain file on your disk. Our privacy property is locality — it never leaves the device — not cryptography. A key stored beside the data it protects would be theatre.</a:t>
            </a:r>
            <a:endParaRPr lang="en-US" sz="1250" dirty="0"/>
          </a:p>
        </p:txBody>
      </p:sp>
      <p:sp>
        <p:nvSpPr>
          <p:cNvPr id="10" name="Shape 7"/>
          <p:cNvSpPr/>
          <p:nvPr/>
        </p:nvSpPr>
        <p:spPr>
          <a:xfrm>
            <a:off x="6217920" y="1645920"/>
            <a:ext cx="5257800" cy="1691640"/>
          </a:xfrm>
          <a:prstGeom prst="roundRect">
            <a:avLst>
              <a:gd name="adj" fmla="val 8649"/>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11" name="Shape 8"/>
          <p:cNvSpPr/>
          <p:nvPr/>
        </p:nvSpPr>
        <p:spPr>
          <a:xfrm>
            <a:off x="6537960" y="1920240"/>
            <a:ext cx="438912" cy="438912"/>
          </a:xfrm>
          <a:prstGeom prst="ellipse">
            <a:avLst/>
          </a:prstGeom>
          <a:solidFill>
            <a:srgbClr val="334155"/>
          </a:solidFill>
          <a:ln/>
        </p:spPr>
      </p:sp>
      <p:sp>
        <p:nvSpPr>
          <p:cNvPr id="12" name="Text 9"/>
          <p:cNvSpPr txBox="1"/>
          <p:nvPr/>
        </p:nvSpPr>
        <p:spPr>
          <a:xfrm>
            <a:off x="6537960" y="19202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3" name="Text 10"/>
          <p:cNvSpPr txBox="1"/>
          <p:nvPr/>
        </p:nvSpPr>
        <p:spPr>
          <a:xfrm>
            <a:off x="7132320" y="1947672"/>
            <a:ext cx="4114800" cy="292608"/>
          </a:xfrm>
          <a:prstGeom prst="rect">
            <a:avLst/>
          </a:prstGeom>
          <a:noFill/>
          <a:ln/>
        </p:spPr>
        <p:txBody>
          <a:bodyPr wrap="square" lIns="0" tIns="0" rIns="0" bIns="0" rtlCol="0" anchor="ctr"/>
          <a:lstStyle/>
          <a:p>
            <a:pPr indent="0" marL="0">
              <a:buNone/>
            </a:pPr>
            <a:r>
              <a:rPr lang="en-US" sz="1450" b="1" dirty="0">
                <a:solidFill>
                  <a:srgbClr val="0B1120"/>
                </a:solidFill>
                <a:latin typeface="Arial" pitchFamily="34" charset="0"/>
                <a:ea typeface="Arial" pitchFamily="34" charset="-122"/>
                <a:cs typeface="Arial" pitchFamily="34" charset="-120"/>
              </a:rPr>
              <a:t>It does not read your documents</a:t>
            </a:r>
            <a:endParaRPr lang="en-US" sz="1450" dirty="0"/>
          </a:p>
        </p:txBody>
      </p:sp>
      <p:sp>
        <p:nvSpPr>
          <p:cNvPr id="14" name="Text 11"/>
          <p:cNvSpPr txBox="1"/>
          <p:nvPr/>
        </p:nvSpPr>
        <p:spPr>
          <a:xfrm>
            <a:off x="6537960" y="2468880"/>
            <a:ext cx="4617720" cy="777240"/>
          </a:xfrm>
          <a:prstGeom prst="rect">
            <a:avLst/>
          </a:prstGeom>
          <a:noFill/>
          <a:ln/>
        </p:spPr>
        <p:txBody>
          <a:bodyPr wrap="square" lIns="0" tIns="0" rIns="0" bIns="0" rtlCol="0" anchor="t"/>
          <a:lstStyle/>
          <a:p>
            <a:pPr algn="l" indent="0" marL="0">
              <a:lnSpc>
                <a:spcPts val="1700"/>
              </a:lnSpc>
              <a:buNone/>
            </a:pPr>
            <a:r>
              <a:rPr lang="en-US" sz="1250" dirty="0">
                <a:solidFill>
                  <a:srgbClr val="475569"/>
                </a:solidFill>
                <a:latin typeface="Calibri" pitchFamily="34" charset="0"/>
                <a:ea typeface="Calibri" pitchFamily="34" charset="-122"/>
                <a:cs typeface="Calibri" pitchFamily="34" charset="-120"/>
              </a:rPr>
              <a:t>Uploads are catalogued by metadata. IBM Bob can tell you a report exists; it cannot tell you what is written in it, and it says so rather than guessing.</a:t>
            </a:r>
            <a:endParaRPr lang="en-US" sz="1250" dirty="0"/>
          </a:p>
        </p:txBody>
      </p:sp>
      <p:sp>
        <p:nvSpPr>
          <p:cNvPr id="15" name="Shape 12"/>
          <p:cNvSpPr/>
          <p:nvPr/>
        </p:nvSpPr>
        <p:spPr>
          <a:xfrm>
            <a:off x="685800" y="3611880"/>
            <a:ext cx="5257800" cy="1691640"/>
          </a:xfrm>
          <a:prstGeom prst="roundRect">
            <a:avLst>
              <a:gd name="adj" fmla="val 8649"/>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16" name="Shape 13"/>
          <p:cNvSpPr/>
          <p:nvPr/>
        </p:nvSpPr>
        <p:spPr>
          <a:xfrm>
            <a:off x="1005840" y="3886200"/>
            <a:ext cx="438912" cy="438912"/>
          </a:xfrm>
          <a:prstGeom prst="ellipse">
            <a:avLst/>
          </a:prstGeom>
          <a:solidFill>
            <a:srgbClr val="334155"/>
          </a:solidFill>
          <a:ln/>
        </p:spPr>
      </p:sp>
      <p:sp>
        <p:nvSpPr>
          <p:cNvPr id="17" name="Text 14"/>
          <p:cNvSpPr txBox="1"/>
          <p:nvPr/>
        </p:nvSpPr>
        <p:spPr>
          <a:xfrm>
            <a:off x="1005840" y="38862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8" name="Text 15"/>
          <p:cNvSpPr txBox="1"/>
          <p:nvPr/>
        </p:nvSpPr>
        <p:spPr>
          <a:xfrm>
            <a:off x="1600200" y="3913632"/>
            <a:ext cx="4114800" cy="292608"/>
          </a:xfrm>
          <a:prstGeom prst="rect">
            <a:avLst/>
          </a:prstGeom>
          <a:noFill/>
          <a:ln/>
        </p:spPr>
        <p:txBody>
          <a:bodyPr wrap="square" lIns="0" tIns="0" rIns="0" bIns="0" rtlCol="0" anchor="ctr"/>
          <a:lstStyle/>
          <a:p>
            <a:pPr indent="0" marL="0">
              <a:buNone/>
            </a:pPr>
            <a:r>
              <a:rPr lang="en-US" sz="1450" b="1" dirty="0">
                <a:solidFill>
                  <a:srgbClr val="0B1120"/>
                </a:solidFill>
                <a:latin typeface="Arial" pitchFamily="34" charset="0"/>
                <a:ea typeface="Arial" pitchFamily="34" charset="-122"/>
                <a:cs typeface="Arial" pitchFamily="34" charset="-120"/>
              </a:rPr>
              <a:t>It is not multi-user</a:t>
            </a:r>
            <a:endParaRPr lang="en-US" sz="1450" dirty="0"/>
          </a:p>
        </p:txBody>
      </p:sp>
      <p:sp>
        <p:nvSpPr>
          <p:cNvPr id="19" name="Text 16"/>
          <p:cNvSpPr txBox="1"/>
          <p:nvPr/>
        </p:nvSpPr>
        <p:spPr>
          <a:xfrm>
            <a:off x="1005840" y="4434840"/>
            <a:ext cx="4617720" cy="777240"/>
          </a:xfrm>
          <a:prstGeom prst="rect">
            <a:avLst/>
          </a:prstGeom>
          <a:noFill/>
          <a:ln/>
        </p:spPr>
        <p:txBody>
          <a:bodyPr wrap="square" lIns="0" tIns="0" rIns="0" bIns="0" rtlCol="0" anchor="t"/>
          <a:lstStyle/>
          <a:p>
            <a:pPr algn="l" indent="0" marL="0">
              <a:lnSpc>
                <a:spcPts val="1700"/>
              </a:lnSpc>
              <a:buNone/>
            </a:pPr>
            <a:r>
              <a:rPr lang="en-US" sz="1250" dirty="0">
                <a:solidFill>
                  <a:srgbClr val="475569"/>
                </a:solidFill>
                <a:latin typeface="Calibri" pitchFamily="34" charset="0"/>
                <a:ea typeface="Calibri" pitchFamily="34" charset="-122"/>
                <a:cs typeface="Calibri" pitchFamily="34" charset="-120"/>
              </a:rPr>
              <a:t>No authentication, one person, one device, one record. Multi-user needs real auth first, and that is named as future work.</a:t>
            </a:r>
            <a:endParaRPr lang="en-US" sz="1250" dirty="0"/>
          </a:p>
        </p:txBody>
      </p:sp>
      <p:sp>
        <p:nvSpPr>
          <p:cNvPr id="20" name="Shape 17"/>
          <p:cNvSpPr/>
          <p:nvPr/>
        </p:nvSpPr>
        <p:spPr>
          <a:xfrm>
            <a:off x="6217920" y="3611880"/>
            <a:ext cx="5257800" cy="1691640"/>
          </a:xfrm>
          <a:prstGeom prst="roundRect">
            <a:avLst>
              <a:gd name="adj" fmla="val 8649"/>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21" name="Shape 18"/>
          <p:cNvSpPr/>
          <p:nvPr/>
        </p:nvSpPr>
        <p:spPr>
          <a:xfrm>
            <a:off x="6537960" y="3886200"/>
            <a:ext cx="438912" cy="438912"/>
          </a:xfrm>
          <a:prstGeom prst="ellipse">
            <a:avLst/>
          </a:prstGeom>
          <a:solidFill>
            <a:srgbClr val="334155"/>
          </a:solidFill>
          <a:ln/>
        </p:spPr>
      </p:sp>
      <p:sp>
        <p:nvSpPr>
          <p:cNvPr id="22" name="Text 19"/>
          <p:cNvSpPr txBox="1"/>
          <p:nvPr/>
        </p:nvSpPr>
        <p:spPr>
          <a:xfrm>
            <a:off x="6537960" y="38862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3" name="Text 20"/>
          <p:cNvSpPr txBox="1"/>
          <p:nvPr/>
        </p:nvSpPr>
        <p:spPr>
          <a:xfrm>
            <a:off x="7132320" y="3913632"/>
            <a:ext cx="4114800" cy="292608"/>
          </a:xfrm>
          <a:prstGeom prst="rect">
            <a:avLst/>
          </a:prstGeom>
          <a:noFill/>
          <a:ln/>
        </p:spPr>
        <p:txBody>
          <a:bodyPr wrap="square" lIns="0" tIns="0" rIns="0" bIns="0" rtlCol="0" anchor="ctr"/>
          <a:lstStyle/>
          <a:p>
            <a:pPr indent="0" marL="0">
              <a:buNone/>
            </a:pPr>
            <a:r>
              <a:rPr lang="en-US" sz="1450" b="1" dirty="0">
                <a:solidFill>
                  <a:srgbClr val="0B1120"/>
                </a:solidFill>
                <a:latin typeface="Arial" pitchFamily="34" charset="0"/>
                <a:ea typeface="Arial" pitchFamily="34" charset="-122"/>
                <a:cs typeface="Arial" pitchFamily="34" charset="-120"/>
              </a:rPr>
              <a:t>It does not give medical advice</a:t>
            </a:r>
            <a:endParaRPr lang="en-US" sz="1450" dirty="0"/>
          </a:p>
        </p:txBody>
      </p:sp>
      <p:sp>
        <p:nvSpPr>
          <p:cNvPr id="24" name="Text 21"/>
          <p:cNvSpPr txBox="1"/>
          <p:nvPr/>
        </p:nvSpPr>
        <p:spPr>
          <a:xfrm>
            <a:off x="6537960" y="4434840"/>
            <a:ext cx="4617720" cy="777240"/>
          </a:xfrm>
          <a:prstGeom prst="rect">
            <a:avLst/>
          </a:prstGeom>
          <a:noFill/>
          <a:ln/>
        </p:spPr>
        <p:txBody>
          <a:bodyPr wrap="square" lIns="0" tIns="0" rIns="0" bIns="0" rtlCol="0" anchor="t"/>
          <a:lstStyle/>
          <a:p>
            <a:pPr algn="l" indent="0" marL="0">
              <a:lnSpc>
                <a:spcPts val="1700"/>
              </a:lnSpc>
              <a:buNone/>
            </a:pPr>
            <a:r>
              <a:rPr lang="en-US" sz="1250" dirty="0">
                <a:solidFill>
                  <a:srgbClr val="475569"/>
                </a:solidFill>
                <a:latin typeface="Calibri" pitchFamily="34" charset="0"/>
                <a:ea typeface="Calibri" pitchFamily="34" charset="-122"/>
                <a:cs typeface="Calibri" pitchFamily="34" charset="-120"/>
              </a:rPr>
              <a:t>Both engines are constrained to describing the record and deferring judgement to a clinician.</a:t>
            </a:r>
            <a:endParaRPr lang="en-US" sz="1250" dirty="0"/>
          </a:p>
        </p:txBody>
      </p:sp>
      <p:sp>
        <p:nvSpPr>
          <p:cNvPr id="25" name="Shape 22"/>
          <p:cNvSpPr/>
          <p:nvPr/>
        </p:nvSpPr>
        <p:spPr>
          <a:xfrm>
            <a:off x="685800" y="5623560"/>
            <a:ext cx="10789920" cy="777240"/>
          </a:xfrm>
          <a:prstGeom prst="roundRect">
            <a:avLst>
              <a:gd name="adj" fmla="val 18824"/>
            </a:avLst>
          </a:prstGeom>
          <a:solidFill>
            <a:srgbClr val="0F172A"/>
          </a:solidFill>
          <a:ln w="12700">
            <a:solidFill>
              <a:srgbClr val="0F172A"/>
            </a:solidFill>
            <a:prstDash val="solid"/>
          </a:ln>
          <a:effectLst>
            <a:outerShdw sx="100000" sy="100000" kx="0" ky="0" algn="bl" rotWithShape="0" blurRad="228600" dist="50800" dir="5400000">
              <a:srgbClr val="000000">
                <a:alpha val="18000"/>
              </a:srgbClr>
            </a:outerShdw>
          </a:effectLst>
        </p:spPr>
      </p:sp>
      <p:sp>
        <p:nvSpPr>
          <p:cNvPr id="26" name="Text 23"/>
          <p:cNvSpPr txBox="1"/>
          <p:nvPr/>
        </p:nvSpPr>
        <p:spPr>
          <a:xfrm>
            <a:off x="1005840" y="5742432"/>
            <a:ext cx="10149840" cy="548640"/>
          </a:xfrm>
          <a:prstGeom prst="rect">
            <a:avLst/>
          </a:prstGeom>
          <a:noFill/>
          <a:ln/>
        </p:spPr>
        <p:txBody>
          <a:bodyPr wrap="square" lIns="0" tIns="0" rIns="0" bIns="0" rtlCol="0" anchor="ctr"/>
          <a:lstStyle/>
          <a:p>
            <a:pPr indent="0" marL="0">
              <a:buNone/>
            </a:pPr>
            <a:r>
              <a:rPr lang="en-US" sz="1350" dirty="0">
                <a:solidFill>
                  <a:srgbClr val="E2E8F0"/>
                </a:solidFill>
                <a:latin typeface="Calibri" pitchFamily="34" charset="0"/>
                <a:ea typeface="Calibri" pitchFamily="34" charset="-122"/>
                <a:cs typeface="Calibri" pitchFamily="34" charset="-120"/>
              </a:rPr>
              <a:t>Every one of these is written in our README. We would rather a judge read it from us than discover it themselves.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85800" y="256032"/>
            <a:ext cx="10789920" cy="274320"/>
          </a:xfrm>
          <a:prstGeom prst="rect">
            <a:avLst/>
          </a:prstGeom>
          <a:noFill/>
          <a:ln/>
        </p:spPr>
        <p:txBody>
          <a:bodyPr wrap="square" lIns="0" tIns="0" rIns="0" bIns="0" rtlCol="0" anchor="ctr"/>
          <a:lstStyle/>
          <a:p>
            <a:pPr indent="0" marL="0">
              <a:buNone/>
            </a:pPr>
            <a:r>
              <a:rPr lang="en-US" sz="1150" b="1" spc="200" kern="0" dirty="0">
                <a:solidFill>
                  <a:srgbClr val="3B82F6"/>
                </a:solidFill>
                <a:latin typeface="Calibri" pitchFamily="34" charset="0"/>
                <a:ea typeface="Calibri" pitchFamily="34" charset="-122"/>
                <a:cs typeface="Calibri" pitchFamily="34" charset="-120"/>
              </a:rPr>
              <a:t>IMPACT AND WHAT COMES NEXT</a:t>
            </a:r>
            <a:endParaRPr lang="en-US" sz="1150" dirty="0"/>
          </a:p>
        </p:txBody>
      </p:sp>
      <p:sp>
        <p:nvSpPr>
          <p:cNvPr id="4" name="Text 1"/>
          <p:cNvSpPr txBox="1"/>
          <p:nvPr/>
        </p:nvSpPr>
        <p:spPr>
          <a:xfrm>
            <a:off x="685800" y="457200"/>
            <a:ext cx="10789920" cy="777240"/>
          </a:xfrm>
          <a:prstGeom prst="rect">
            <a:avLst/>
          </a:prstGeom>
          <a:noFill/>
          <a:ln/>
        </p:spPr>
        <p:txBody>
          <a:bodyPr wrap="square" lIns="0" tIns="0" rIns="0" bIns="0" rtlCol="0" anchor="ctr"/>
          <a:lstStyle/>
          <a:p>
            <a:pPr algn="l" indent="0" marL="0">
              <a:buNone/>
            </a:pPr>
            <a:r>
              <a:rPr lang="en-US" sz="3200" b="1" dirty="0">
                <a:solidFill>
                  <a:srgbClr val="0B1120"/>
                </a:solidFill>
                <a:latin typeface="Arial" pitchFamily="34" charset="0"/>
                <a:ea typeface="Arial" pitchFamily="34" charset="-122"/>
                <a:cs typeface="Arial" pitchFamily="34" charset="-120"/>
              </a:rPr>
              <a:t>Who this is for, and where it goes</a:t>
            </a:r>
            <a:endParaRPr lang="en-US" sz="3200" dirty="0"/>
          </a:p>
        </p:txBody>
      </p:sp>
      <p:sp>
        <p:nvSpPr>
          <p:cNvPr id="5" name="Shape 2"/>
          <p:cNvSpPr/>
          <p:nvPr/>
        </p:nvSpPr>
        <p:spPr>
          <a:xfrm>
            <a:off x="685800" y="1645920"/>
            <a:ext cx="5943600" cy="1481328"/>
          </a:xfrm>
          <a:prstGeom prst="roundRect">
            <a:avLst>
              <a:gd name="adj" fmla="val 9877"/>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6" name="Shape 3"/>
          <p:cNvSpPr/>
          <p:nvPr/>
        </p:nvSpPr>
        <p:spPr>
          <a:xfrm>
            <a:off x="1005840" y="1901952"/>
            <a:ext cx="457200" cy="457200"/>
          </a:xfrm>
          <a:prstGeom prst="ellipse">
            <a:avLst/>
          </a:prstGeom>
          <a:solidFill>
            <a:srgbClr val="3B82F6"/>
          </a:solidFill>
          <a:ln/>
        </p:spPr>
      </p:sp>
      <p:sp>
        <p:nvSpPr>
          <p:cNvPr id="7" name="Text 4"/>
          <p:cNvSpPr txBox="1"/>
          <p:nvPr/>
        </p:nvSpPr>
        <p:spPr>
          <a:xfrm>
            <a:off x="1005840" y="19019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8" name="Text 5"/>
          <p:cNvSpPr txBox="1"/>
          <p:nvPr/>
        </p:nvSpPr>
        <p:spPr>
          <a:xfrm>
            <a:off x="1627632" y="1920240"/>
            <a:ext cx="4754880" cy="274320"/>
          </a:xfrm>
          <a:prstGeom prst="rect">
            <a:avLst/>
          </a:prstGeom>
          <a:noFill/>
          <a:ln/>
        </p:spPr>
        <p:txBody>
          <a:bodyPr wrap="square" lIns="0" tIns="0" rIns="0" bIns="0" rtlCol="0" anchor="ctr"/>
          <a:lstStyle/>
          <a:p>
            <a:pPr indent="0" marL="0">
              <a:buNone/>
            </a:pPr>
            <a:r>
              <a:rPr lang="en-US" sz="1450" b="1" dirty="0">
                <a:solidFill>
                  <a:srgbClr val="0B1120"/>
                </a:solidFill>
                <a:latin typeface="Arial" pitchFamily="34" charset="0"/>
                <a:ea typeface="Arial" pitchFamily="34" charset="-122"/>
                <a:cs typeface="Arial" pitchFamily="34" charset="-120"/>
              </a:rPr>
              <a:t>The family coordinator</a:t>
            </a:r>
            <a:endParaRPr lang="en-US" sz="1450" dirty="0"/>
          </a:p>
        </p:txBody>
      </p:sp>
      <p:sp>
        <p:nvSpPr>
          <p:cNvPr id="9" name="Text 6"/>
          <p:cNvSpPr txBox="1"/>
          <p:nvPr/>
        </p:nvSpPr>
        <p:spPr>
          <a:xfrm>
            <a:off x="1005840" y="2322576"/>
            <a:ext cx="5394960" cy="640080"/>
          </a:xfrm>
          <a:prstGeom prst="rect">
            <a:avLst/>
          </a:prstGeom>
          <a:noFill/>
          <a:ln/>
        </p:spPr>
        <p:txBody>
          <a:bodyPr wrap="square" lIns="0" tIns="0" rIns="0" bIns="0" rtlCol="0" anchor="t"/>
          <a:lstStyle/>
          <a:p>
            <a:pPr algn="l" indent="0" marL="0">
              <a:lnSpc>
                <a:spcPts val="1700"/>
              </a:lnSpc>
              <a:buNone/>
            </a:pPr>
            <a:r>
              <a:rPr lang="en-US" sz="1250" dirty="0">
                <a:solidFill>
                  <a:srgbClr val="475569"/>
                </a:solidFill>
                <a:latin typeface="Calibri" pitchFamily="34" charset="0"/>
                <a:ea typeface="Calibri" pitchFamily="34" charset="-122"/>
                <a:cs typeface="Calibri" pitchFamily="34" charset="-120"/>
              </a:rPr>
              <a:t>One person in most families tracks everyone's appointments, prescriptions and screenings. Health Journey is built for them — family profiles are a first-class feature, not an afterthought.</a:t>
            </a:r>
            <a:endParaRPr lang="en-US" sz="1250" dirty="0"/>
          </a:p>
        </p:txBody>
      </p:sp>
      <p:sp>
        <p:nvSpPr>
          <p:cNvPr id="10" name="Shape 7"/>
          <p:cNvSpPr/>
          <p:nvPr/>
        </p:nvSpPr>
        <p:spPr>
          <a:xfrm>
            <a:off x="685800" y="3337560"/>
            <a:ext cx="5943600" cy="1481328"/>
          </a:xfrm>
          <a:prstGeom prst="roundRect">
            <a:avLst>
              <a:gd name="adj" fmla="val 9877"/>
            </a:avLst>
          </a:prstGeom>
          <a:solidFill>
            <a:srgbClr val="FFFFFF"/>
          </a:solidFill>
          <a:ln w="12700">
            <a:solidFill>
              <a:srgbClr val="E2E8F0"/>
            </a:solidFill>
            <a:prstDash val="solid"/>
          </a:ln>
          <a:effectLst>
            <a:outerShdw sx="100000" sy="100000" kx="0" ky="0" algn="bl" rotWithShape="0" blurRad="228600" dist="50800" dir="5400000">
              <a:srgbClr val="000000">
                <a:alpha val="18000"/>
              </a:srgbClr>
            </a:outerShdw>
          </a:effectLst>
        </p:spPr>
      </p:sp>
      <p:sp>
        <p:nvSpPr>
          <p:cNvPr id="11" name="Shape 8"/>
          <p:cNvSpPr/>
          <p:nvPr/>
        </p:nvSpPr>
        <p:spPr>
          <a:xfrm>
            <a:off x="1005840" y="3593592"/>
            <a:ext cx="457200" cy="457200"/>
          </a:xfrm>
          <a:prstGeom prst="ellipse">
            <a:avLst/>
          </a:prstGeom>
          <a:solidFill>
            <a:srgbClr val="14B8A6"/>
          </a:solidFill>
          <a:ln/>
        </p:spPr>
      </p:sp>
      <p:sp>
        <p:nvSpPr>
          <p:cNvPr id="12" name="Text 9"/>
          <p:cNvSpPr txBox="1"/>
          <p:nvPr/>
        </p:nvSpPr>
        <p:spPr>
          <a:xfrm>
            <a:off x="1005840" y="35935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3" name="Text 10"/>
          <p:cNvSpPr txBox="1"/>
          <p:nvPr/>
        </p:nvSpPr>
        <p:spPr>
          <a:xfrm>
            <a:off x="1627632" y="3611880"/>
            <a:ext cx="4754880" cy="274320"/>
          </a:xfrm>
          <a:prstGeom prst="rect">
            <a:avLst/>
          </a:prstGeom>
          <a:noFill/>
          <a:ln/>
        </p:spPr>
        <p:txBody>
          <a:bodyPr wrap="square" lIns="0" tIns="0" rIns="0" bIns="0" rtlCol="0" anchor="ctr"/>
          <a:lstStyle/>
          <a:p>
            <a:pPr indent="0" marL="0">
              <a:buNone/>
            </a:pPr>
            <a:r>
              <a:rPr lang="en-US" sz="1450" b="1" dirty="0">
                <a:solidFill>
                  <a:srgbClr val="0B1120"/>
                </a:solidFill>
                <a:latin typeface="Arial" pitchFamily="34" charset="0"/>
                <a:ea typeface="Arial" pitchFamily="34" charset="-122"/>
                <a:cs typeface="Arial" pitchFamily="34" charset="-120"/>
              </a:rPr>
              <a:t>Anyone managing a long-term condition</a:t>
            </a:r>
            <a:endParaRPr lang="en-US" sz="1450" dirty="0"/>
          </a:p>
        </p:txBody>
      </p:sp>
      <p:sp>
        <p:nvSpPr>
          <p:cNvPr id="14" name="Text 11"/>
          <p:cNvSpPr txBox="1"/>
          <p:nvPr/>
        </p:nvSpPr>
        <p:spPr>
          <a:xfrm>
            <a:off x="1005840" y="4014216"/>
            <a:ext cx="5394960" cy="640080"/>
          </a:xfrm>
          <a:prstGeom prst="rect">
            <a:avLst/>
          </a:prstGeom>
          <a:noFill/>
          <a:ln/>
        </p:spPr>
        <p:txBody>
          <a:bodyPr wrap="square" lIns="0" tIns="0" rIns="0" bIns="0" rtlCol="0" anchor="t"/>
          <a:lstStyle/>
          <a:p>
            <a:pPr algn="l" indent="0" marL="0">
              <a:lnSpc>
                <a:spcPts val="1700"/>
              </a:lnSpc>
              <a:buNone/>
            </a:pPr>
            <a:r>
              <a:rPr lang="en-US" sz="1250" dirty="0">
                <a:solidFill>
                  <a:srgbClr val="475569"/>
                </a:solidFill>
                <a:latin typeface="Calibri" pitchFamily="34" charset="0"/>
                <a:ea typeface="Calibri" pitchFamily="34" charset="-122"/>
                <a:cs typeface="Calibri" pitchFamily="34" charset="-120"/>
              </a:rPr>
              <a:t>Pre-diabetes, hypertension, thyroid — conditions measured in years of panels and slow trends. That is exactly the history a scattered record loses.</a:t>
            </a:r>
            <a:endParaRPr lang="en-US" sz="1250" dirty="0"/>
          </a:p>
        </p:txBody>
      </p:sp>
      <p:sp>
        <p:nvSpPr>
          <p:cNvPr id="15" name="Shape 12"/>
          <p:cNvSpPr/>
          <p:nvPr/>
        </p:nvSpPr>
        <p:spPr>
          <a:xfrm>
            <a:off x="6949440" y="1645920"/>
            <a:ext cx="4526280" cy="3200400"/>
          </a:xfrm>
          <a:prstGeom prst="roundRect">
            <a:avLst>
              <a:gd name="adj" fmla="val 4571"/>
            </a:avLst>
          </a:prstGeom>
          <a:solidFill>
            <a:srgbClr val="0F172A"/>
          </a:solidFill>
          <a:ln w="12700">
            <a:solidFill>
              <a:srgbClr val="0F172A"/>
            </a:solidFill>
            <a:prstDash val="solid"/>
          </a:ln>
          <a:effectLst>
            <a:outerShdw sx="100000" sy="100000" kx="0" ky="0" algn="bl" rotWithShape="0" blurRad="228600" dist="50800" dir="5400000">
              <a:srgbClr val="000000">
                <a:alpha val="18000"/>
              </a:srgbClr>
            </a:outerShdw>
          </a:effectLst>
        </p:spPr>
      </p:sp>
      <p:sp>
        <p:nvSpPr>
          <p:cNvPr id="16" name="Text 13"/>
          <p:cNvSpPr txBox="1"/>
          <p:nvPr/>
        </p:nvSpPr>
        <p:spPr>
          <a:xfrm>
            <a:off x="7315200" y="1874520"/>
            <a:ext cx="3657600" cy="3200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Roadmap</a:t>
            </a:r>
            <a:endParaRPr lang="en-US" sz="1700" dirty="0"/>
          </a:p>
        </p:txBody>
      </p:sp>
      <p:sp>
        <p:nvSpPr>
          <p:cNvPr id="17" name="Shape 14"/>
          <p:cNvSpPr/>
          <p:nvPr/>
        </p:nvSpPr>
        <p:spPr>
          <a:xfrm>
            <a:off x="7315200" y="2404872"/>
            <a:ext cx="128016" cy="128016"/>
          </a:xfrm>
          <a:prstGeom prst="ellipse">
            <a:avLst/>
          </a:prstGeom>
          <a:solidFill>
            <a:srgbClr val="14B8A6"/>
          </a:solidFill>
          <a:ln/>
        </p:spPr>
      </p:sp>
      <p:sp>
        <p:nvSpPr>
          <p:cNvPr id="18" name="Text 15"/>
          <p:cNvSpPr txBox="1"/>
          <p:nvPr/>
        </p:nvSpPr>
        <p:spPr>
          <a:xfrm>
            <a:off x="7589520" y="2331720"/>
            <a:ext cx="3657600" cy="23774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OCR and marker extraction</a:t>
            </a:r>
            <a:endParaRPr lang="en-US" sz="1250" dirty="0"/>
          </a:p>
        </p:txBody>
      </p:sp>
      <p:sp>
        <p:nvSpPr>
          <p:cNvPr id="19" name="Text 16"/>
          <p:cNvSpPr txBox="1"/>
          <p:nvPr/>
        </p:nvSpPr>
        <p:spPr>
          <a:xfrm>
            <a:off x="7589520" y="2569464"/>
            <a:ext cx="3657600" cy="274320"/>
          </a:xfrm>
          <a:prstGeom prst="rect">
            <a:avLst/>
          </a:prstGeom>
          <a:noFill/>
          <a:ln/>
        </p:spPr>
        <p:txBody>
          <a:bodyPr wrap="square" lIns="0" tIns="0" rIns="0" bIns="0" rtlCol="0" anchor="t"/>
          <a:lstStyle/>
          <a:p>
            <a:pPr algn="l" indent="0" marL="0">
              <a:lnSpc>
                <a:spcPts val="1400"/>
              </a:lnSpc>
              <a:buNone/>
            </a:pPr>
            <a:r>
              <a:rPr lang="en-US" sz="1100" dirty="0">
                <a:solidFill>
                  <a:srgbClr val="A9B6CC"/>
                </a:solidFill>
                <a:latin typeface="Calibri" pitchFamily="34" charset="0"/>
                <a:ea typeface="Calibri" pitchFamily="34" charset="-122"/>
                <a:cs typeface="Calibri" pitchFamily="34" charset="-120"/>
              </a:rPr>
              <a:t>so Bob can compare panels value by value</a:t>
            </a:r>
            <a:endParaRPr lang="en-US" sz="1100" dirty="0"/>
          </a:p>
        </p:txBody>
      </p:sp>
      <p:sp>
        <p:nvSpPr>
          <p:cNvPr id="20" name="Shape 17"/>
          <p:cNvSpPr/>
          <p:nvPr/>
        </p:nvSpPr>
        <p:spPr>
          <a:xfrm>
            <a:off x="7315200" y="3026664"/>
            <a:ext cx="128016" cy="128016"/>
          </a:xfrm>
          <a:prstGeom prst="ellipse">
            <a:avLst/>
          </a:prstGeom>
          <a:solidFill>
            <a:srgbClr val="14B8A6"/>
          </a:solidFill>
          <a:ln/>
        </p:spPr>
      </p:sp>
      <p:sp>
        <p:nvSpPr>
          <p:cNvPr id="21" name="Text 18"/>
          <p:cNvSpPr txBox="1"/>
          <p:nvPr/>
        </p:nvSpPr>
        <p:spPr>
          <a:xfrm>
            <a:off x="7589520" y="2953512"/>
            <a:ext cx="3657600" cy="23774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Encryption at rest</a:t>
            </a:r>
            <a:endParaRPr lang="en-US" sz="1250" dirty="0"/>
          </a:p>
        </p:txBody>
      </p:sp>
      <p:sp>
        <p:nvSpPr>
          <p:cNvPr id="22" name="Text 19"/>
          <p:cNvSpPr txBox="1"/>
          <p:nvPr/>
        </p:nvSpPr>
        <p:spPr>
          <a:xfrm>
            <a:off x="7589520" y="3191256"/>
            <a:ext cx="3657600" cy="274320"/>
          </a:xfrm>
          <a:prstGeom prst="rect">
            <a:avLst/>
          </a:prstGeom>
          <a:noFill/>
          <a:ln/>
        </p:spPr>
        <p:txBody>
          <a:bodyPr wrap="square" lIns="0" tIns="0" rIns="0" bIns="0" rtlCol="0" anchor="t"/>
          <a:lstStyle/>
          <a:p>
            <a:pPr algn="l" indent="0" marL="0">
              <a:lnSpc>
                <a:spcPts val="1400"/>
              </a:lnSpc>
              <a:buNone/>
            </a:pPr>
            <a:r>
              <a:rPr lang="en-US" sz="1100" dirty="0">
                <a:solidFill>
                  <a:srgbClr val="A9B6CC"/>
                </a:solidFill>
                <a:latin typeface="Calibri" pitchFamily="34" charset="0"/>
                <a:ea typeface="Calibri" pitchFamily="34" charset="-122"/>
                <a:cs typeface="Calibri" pitchFamily="34" charset="-120"/>
              </a:rPr>
              <a:t>for the record store and uploads</a:t>
            </a:r>
            <a:endParaRPr lang="en-US" sz="1100" dirty="0"/>
          </a:p>
        </p:txBody>
      </p:sp>
      <p:sp>
        <p:nvSpPr>
          <p:cNvPr id="23" name="Shape 20"/>
          <p:cNvSpPr/>
          <p:nvPr/>
        </p:nvSpPr>
        <p:spPr>
          <a:xfrm>
            <a:off x="7315200" y="3648456"/>
            <a:ext cx="128016" cy="128016"/>
          </a:xfrm>
          <a:prstGeom prst="ellipse">
            <a:avLst/>
          </a:prstGeom>
          <a:solidFill>
            <a:srgbClr val="14B8A6"/>
          </a:solidFill>
          <a:ln/>
        </p:spPr>
      </p:sp>
      <p:sp>
        <p:nvSpPr>
          <p:cNvPr id="24" name="Text 21"/>
          <p:cNvSpPr txBox="1"/>
          <p:nvPr/>
        </p:nvSpPr>
        <p:spPr>
          <a:xfrm>
            <a:off x="7589520" y="3575304"/>
            <a:ext cx="3657600" cy="23774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An auditable conversation log</a:t>
            </a:r>
            <a:endParaRPr lang="en-US" sz="1250" dirty="0"/>
          </a:p>
        </p:txBody>
      </p:sp>
      <p:sp>
        <p:nvSpPr>
          <p:cNvPr id="25" name="Text 22"/>
          <p:cNvSpPr txBox="1"/>
          <p:nvPr/>
        </p:nvSpPr>
        <p:spPr>
          <a:xfrm>
            <a:off x="7589520" y="3813048"/>
            <a:ext cx="3657600" cy="274320"/>
          </a:xfrm>
          <a:prstGeom prst="rect">
            <a:avLst/>
          </a:prstGeom>
          <a:noFill/>
          <a:ln/>
        </p:spPr>
        <p:txBody>
          <a:bodyPr wrap="square" lIns="0" tIns="0" rIns="0" bIns="0" rtlCol="0" anchor="t"/>
          <a:lstStyle/>
          <a:p>
            <a:pPr algn="l" indent="0" marL="0">
              <a:lnSpc>
                <a:spcPts val="1400"/>
              </a:lnSpc>
              <a:buNone/>
            </a:pPr>
            <a:r>
              <a:rPr lang="en-US" sz="1100" dirty="0">
                <a:solidFill>
                  <a:srgbClr val="A9B6CC"/>
                </a:solidFill>
                <a:latin typeface="Calibri" pitchFamily="34" charset="0"/>
                <a:ea typeface="Calibri" pitchFamily="34" charset="-122"/>
                <a:cs typeface="Calibri" pitchFamily="34" charset="-120"/>
              </a:rPr>
              <a:t>so a patient can retrieve what Bob said</a:t>
            </a:r>
            <a:endParaRPr lang="en-US" sz="1100" dirty="0"/>
          </a:p>
        </p:txBody>
      </p:sp>
      <p:sp>
        <p:nvSpPr>
          <p:cNvPr id="26" name="Shape 23"/>
          <p:cNvSpPr/>
          <p:nvPr/>
        </p:nvSpPr>
        <p:spPr>
          <a:xfrm>
            <a:off x="7315200" y="4270248"/>
            <a:ext cx="128016" cy="128016"/>
          </a:xfrm>
          <a:prstGeom prst="ellipse">
            <a:avLst/>
          </a:prstGeom>
          <a:solidFill>
            <a:srgbClr val="14B8A6"/>
          </a:solidFill>
          <a:ln/>
        </p:spPr>
      </p:sp>
      <p:sp>
        <p:nvSpPr>
          <p:cNvPr id="27" name="Text 24"/>
          <p:cNvSpPr txBox="1"/>
          <p:nvPr/>
        </p:nvSpPr>
        <p:spPr>
          <a:xfrm>
            <a:off x="7589520" y="4197096"/>
            <a:ext cx="3657600" cy="23774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Multi-user with real auth</a:t>
            </a:r>
            <a:endParaRPr lang="en-US" sz="1250" dirty="0"/>
          </a:p>
        </p:txBody>
      </p:sp>
      <p:sp>
        <p:nvSpPr>
          <p:cNvPr id="28" name="Text 25"/>
          <p:cNvSpPr txBox="1"/>
          <p:nvPr/>
        </p:nvSpPr>
        <p:spPr>
          <a:xfrm>
            <a:off x="7589520" y="4434840"/>
            <a:ext cx="3657600" cy="274320"/>
          </a:xfrm>
          <a:prstGeom prst="rect">
            <a:avLst/>
          </a:prstGeom>
          <a:noFill/>
          <a:ln/>
        </p:spPr>
        <p:txBody>
          <a:bodyPr wrap="square" lIns="0" tIns="0" rIns="0" bIns="0" rtlCol="0" anchor="t"/>
          <a:lstStyle/>
          <a:p>
            <a:pPr algn="l" indent="0" marL="0">
              <a:lnSpc>
                <a:spcPts val="1400"/>
              </a:lnSpc>
              <a:buNone/>
            </a:pPr>
            <a:r>
              <a:rPr lang="en-US" sz="1100" dirty="0">
                <a:solidFill>
                  <a:srgbClr val="A9B6CC"/>
                </a:solidFill>
                <a:latin typeface="Calibri" pitchFamily="34" charset="0"/>
                <a:ea typeface="Calibri" pitchFamily="34" charset="-122"/>
                <a:cs typeface="Calibri" pitchFamily="34" charset="-120"/>
              </a:rPr>
              <a:t>a household, not a single device</a:t>
            </a:r>
            <a:endParaRPr lang="en-US" sz="1100" dirty="0"/>
          </a:p>
        </p:txBody>
      </p:sp>
      <p:sp>
        <p:nvSpPr>
          <p:cNvPr id="29" name="Shape 26"/>
          <p:cNvSpPr/>
          <p:nvPr/>
        </p:nvSpPr>
        <p:spPr>
          <a:xfrm>
            <a:off x="685800" y="5074920"/>
            <a:ext cx="10789920" cy="1051560"/>
          </a:xfrm>
          <a:prstGeom prst="roundRect">
            <a:avLst>
              <a:gd name="adj" fmla="val 13913"/>
            </a:avLst>
          </a:prstGeom>
          <a:solidFill>
            <a:srgbClr val="EFF6FF"/>
          </a:solidFill>
          <a:ln w="12700">
            <a:solidFill>
              <a:srgbClr val="BFDBFE"/>
            </a:solidFill>
            <a:prstDash val="solid"/>
          </a:ln>
          <a:effectLst>
            <a:outerShdw sx="100000" sy="100000" kx="0" ky="0" algn="bl" rotWithShape="0" blurRad="228600" dist="50800" dir="5400000">
              <a:srgbClr val="000000">
                <a:alpha val="18000"/>
              </a:srgbClr>
            </a:outerShdw>
          </a:effectLst>
        </p:spPr>
      </p:sp>
      <p:sp>
        <p:nvSpPr>
          <p:cNvPr id="30" name="Text 27"/>
          <p:cNvSpPr txBox="1"/>
          <p:nvPr/>
        </p:nvSpPr>
        <p:spPr>
          <a:xfrm>
            <a:off x="1005840" y="5257800"/>
            <a:ext cx="10149840" cy="640080"/>
          </a:xfrm>
          <a:prstGeom prst="rect">
            <a:avLst/>
          </a:prstGeom>
          <a:noFill/>
          <a:ln/>
        </p:spPr>
        <p:txBody>
          <a:bodyPr wrap="square" lIns="0" tIns="0" rIns="0" bIns="0" rtlCol="0" anchor="ctr"/>
          <a:lstStyle/>
          <a:p>
            <a:pPr indent="0" marL="0">
              <a:lnSpc>
                <a:spcPts val="1900"/>
              </a:lnSpc>
              <a:buNone/>
            </a:pPr>
            <a:r>
              <a:rPr lang="en-US" sz="1350" b="1" dirty="0">
                <a:solidFill>
                  <a:srgbClr val="1E40AF"/>
                </a:solidFill>
                <a:latin typeface="Calibri" pitchFamily="34" charset="0"/>
                <a:ea typeface="Calibri" pitchFamily="34" charset="-122"/>
                <a:cs typeface="Calibri" pitchFamily="34" charset="-120"/>
              </a:rPr>
              <a:t>The next feature is the one we were honest about not having.</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85800" y="1737360"/>
            <a:ext cx="10515600" cy="2194560"/>
          </a:xfrm>
          <a:prstGeom prst="rect">
            <a:avLst/>
          </a:prstGeom>
          <a:noFill/>
          <a:ln/>
        </p:spPr>
        <p:txBody>
          <a:bodyPr wrap="square" lIns="0" tIns="0" rIns="0" bIns="0" rtlCol="0" anchor="ctr"/>
          <a:lstStyle/>
          <a:p>
            <a:pPr indent="0" marL="0">
              <a:lnSpc>
                <a:spcPts val="4800"/>
              </a:lnSpc>
              <a:buNone/>
            </a:pPr>
            <a:r>
              <a:rPr lang="en-US" sz="3600" b="1" dirty="0">
                <a:solidFill>
                  <a:srgbClr val="FFFFFF"/>
                </a:solidFill>
                <a:latin typeface="Arial" pitchFamily="34" charset="0"/>
                <a:ea typeface="Arial" pitchFamily="34" charset="-122"/>
                <a:cs typeface="Arial" pitchFamily="34" charset="-120"/>
              </a:rPr>
              <a:t>An AI health assistant whose most</a:t>
            </a:r>
            <a:endParaRPr lang="en-US" sz="3600" dirty="0"/>
          </a:p>
          <a:p>
            <a:pPr indent="0" marL="0">
              <a:lnSpc>
                <a:spcPts val="4800"/>
              </a:lnSpc>
              <a:buNone/>
            </a:pPr>
            <a:r>
              <a:rPr lang="en-US" sz="3600" b="1" dirty="0">
                <a:solidFill>
                  <a:srgbClr val="FFFFFF"/>
                </a:solidFill>
                <a:latin typeface="Arial" pitchFamily="34" charset="0"/>
                <a:ea typeface="Arial" pitchFamily="34" charset="-122"/>
                <a:cs typeface="Arial" pitchFamily="34" charset="-120"/>
              </a:rPr>
              <a:t>important feature is knowing</a:t>
            </a:r>
            <a:endParaRPr lang="en-US" sz="3600" dirty="0"/>
          </a:p>
          <a:p>
            <a:pPr indent="0" marL="0">
              <a:lnSpc>
                <a:spcPts val="4800"/>
              </a:lnSpc>
              <a:buNone/>
            </a:pPr>
            <a:r>
              <a:rPr lang="en-US" sz="3600" b="1" dirty="0">
                <a:solidFill>
                  <a:srgbClr val="FFFFFF"/>
                </a:solidFill>
                <a:latin typeface="Arial" pitchFamily="34" charset="0"/>
                <a:ea typeface="Arial" pitchFamily="34" charset="-122"/>
                <a:cs typeface="Arial" pitchFamily="34" charset="-120"/>
              </a:rPr>
              <a:t>when to say no.</a:t>
            </a:r>
            <a:endParaRPr lang="en-US" sz="3600" dirty="0"/>
          </a:p>
        </p:txBody>
      </p:sp>
      <p:sp>
        <p:nvSpPr>
          <p:cNvPr id="4" name="Text 1"/>
          <p:cNvSpPr txBox="1"/>
          <p:nvPr/>
        </p:nvSpPr>
        <p:spPr>
          <a:xfrm>
            <a:off x="713232" y="4023360"/>
            <a:ext cx="8686800" cy="822960"/>
          </a:xfrm>
          <a:prstGeom prst="rect">
            <a:avLst/>
          </a:prstGeom>
          <a:noFill/>
          <a:ln/>
        </p:spPr>
        <p:txBody>
          <a:bodyPr wrap="square" lIns="0" tIns="0" rIns="0" bIns="0" rtlCol="0" anchor="ctr"/>
          <a:lstStyle/>
          <a:p>
            <a:pPr indent="0" marL="0">
              <a:lnSpc>
                <a:spcPts val="2400"/>
              </a:lnSpc>
              <a:buNone/>
            </a:pPr>
            <a:r>
              <a:rPr lang="en-US" sz="1550" dirty="0">
                <a:solidFill>
                  <a:srgbClr val="93C5FD"/>
                </a:solidFill>
                <a:latin typeface="Calibri" pitchFamily="34" charset="0"/>
                <a:ea typeface="Calibri" pitchFamily="34" charset="-122"/>
                <a:cs typeface="Calibri" pitchFamily="34" charset="-120"/>
              </a:rPr>
              <a:t>Health Journey organises your health information.</a:t>
            </a:r>
            <a:endParaRPr lang="en-US" sz="1550" dirty="0"/>
          </a:p>
          <a:p>
            <a:pPr indent="0" marL="0">
              <a:lnSpc>
                <a:spcPts val="2400"/>
              </a:lnSpc>
              <a:buNone/>
            </a:pPr>
            <a:r>
              <a:rPr lang="en-US" sz="1550" dirty="0">
                <a:solidFill>
                  <a:srgbClr val="93C5FD"/>
                </a:solidFill>
                <a:latin typeface="Calibri" pitchFamily="34" charset="0"/>
                <a:ea typeface="Calibri" pitchFamily="34" charset="-122"/>
                <a:cs typeface="Calibri" pitchFamily="34" charset="-120"/>
              </a:rPr>
              <a:t>Clinical decisions remain with qualified medical professionals.</a:t>
            </a:r>
            <a:endParaRPr lang="en-US" sz="1550" dirty="0"/>
          </a:p>
        </p:txBody>
      </p:sp>
      <p:sp>
        <p:nvSpPr>
          <p:cNvPr id="5" name="Shape 2"/>
          <p:cNvSpPr/>
          <p:nvPr/>
        </p:nvSpPr>
        <p:spPr>
          <a:xfrm>
            <a:off x="713232" y="5120640"/>
            <a:ext cx="10515600" cy="0"/>
          </a:xfrm>
          <a:prstGeom prst="line">
            <a:avLst/>
          </a:prstGeom>
          <a:noFill/>
          <a:ln w="12700">
            <a:solidFill>
              <a:srgbClr val="334155"/>
            </a:solidFill>
            <a:prstDash val="solid"/>
          </a:ln>
        </p:spPr>
      </p:sp>
      <p:sp>
        <p:nvSpPr>
          <p:cNvPr id="6" name="Text 3"/>
          <p:cNvSpPr txBox="1"/>
          <p:nvPr/>
        </p:nvSpPr>
        <p:spPr>
          <a:xfrm>
            <a:off x="713232" y="5349240"/>
            <a:ext cx="3657600"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Team NovaTra</a:t>
            </a:r>
            <a:endParaRPr lang="en-US" sz="1500" dirty="0"/>
          </a:p>
        </p:txBody>
      </p:sp>
      <p:sp>
        <p:nvSpPr>
          <p:cNvPr id="7" name="Text 4"/>
          <p:cNvSpPr txBox="1"/>
          <p:nvPr/>
        </p:nvSpPr>
        <p:spPr>
          <a:xfrm>
            <a:off x="713232" y="5669280"/>
            <a:ext cx="731520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New Horizon College of Engineering  ·  IBM SkillsBuild SkillUp Hackathon 2026</a:t>
            </a:r>
            <a:endParaRPr lang="en-US" sz="1200" dirty="0"/>
          </a:p>
        </p:txBody>
      </p:sp>
      <p:sp>
        <p:nvSpPr>
          <p:cNvPr id="8" name="Text 5"/>
          <p:cNvSpPr txBox="1"/>
          <p:nvPr/>
        </p:nvSpPr>
        <p:spPr>
          <a:xfrm>
            <a:off x="713232" y="5989320"/>
            <a:ext cx="868680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Mantripragada Ramaa Gayatri  ·  Allu Uma Eashanvi  ·  Krupa L P  ·  Madhumitha 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New Horizon College of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Journey — IBM SkillsBuild SkillUp Hackathon</dc:title>
  <dc:subject>PptxGenJS Presentation</dc:subject>
  <dc:creator>Team NovaTra</dc:creator>
  <cp:lastModifiedBy>Team NovaTra</cp:lastModifiedBy>
  <cp:revision>1</cp:revision>
  <dcterms:created xsi:type="dcterms:W3CDTF">2026-08-31T11:36:00Z</dcterms:created>
  <dcterms:modified xsi:type="dcterms:W3CDTF">2026-08-31T11:36:00Z</dcterms:modified>
</cp:coreProperties>
</file>